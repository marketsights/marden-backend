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67" r:id="rId3"/>
    <p:sldId id="274" r:id="rId4"/>
    <p:sldId id="272" r:id="rId5"/>
    <p:sldId id="275" r:id="rId6"/>
    <p:sldId id="276" r:id="rId7"/>
    <p:sldId id="2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10448-572B-0456-BFCF-D9052FCE6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793" y="1169485"/>
            <a:ext cx="6691254" cy="171330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7000" dirty="0"/>
              <a:t>LLWG Update to August TAC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4A648-5B01-D29F-042E-173362A3C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148" y="5218799"/>
            <a:ext cx="2397346" cy="753165"/>
          </a:xfrm>
        </p:spPr>
        <p:txBody>
          <a:bodyPr anchor="t">
            <a:normAutofit fontScale="62500" lnSpcReduction="20000"/>
          </a:bodyPr>
          <a:lstStyle/>
          <a:p>
            <a:pPr algn="l"/>
            <a:r>
              <a:rPr lang="en-US" sz="1900" dirty="0"/>
              <a:t>Aug 26, 2026</a:t>
            </a:r>
          </a:p>
          <a:p>
            <a:pPr algn="l"/>
            <a:r>
              <a:rPr lang="en-US" sz="1900" dirty="0"/>
              <a:t>Bob Wittmeyer</a:t>
            </a:r>
          </a:p>
          <a:p>
            <a:pPr algn="l"/>
            <a:r>
              <a:rPr lang="en-US" sz="1900" dirty="0"/>
              <a:t>bob@longhornpwr.com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3277E6-12C7-1029-BD5C-0F5275AC6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14" y="5218799"/>
            <a:ext cx="1632563" cy="53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5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E5D5F-B62F-D704-B107-C627D5B4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en-US" sz="450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24C9-E319-2B9D-67D7-ACC9030A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r>
              <a:rPr lang="en-US" sz="1700" dirty="0"/>
              <a:t>NERC Update</a:t>
            </a:r>
          </a:p>
          <a:p>
            <a:r>
              <a:rPr lang="en-US" sz="1700" dirty="0"/>
              <a:t>Netted Network</a:t>
            </a:r>
          </a:p>
          <a:p>
            <a:r>
              <a:rPr lang="en-US" sz="1700" dirty="0"/>
              <a:t>VRT “Standard”</a:t>
            </a:r>
          </a:p>
          <a:p>
            <a:r>
              <a:rPr lang="en-US" sz="1700" dirty="0"/>
              <a:t>September LLWG Meeting – VRT Solutions</a:t>
            </a:r>
          </a:p>
          <a:p>
            <a:endParaRPr lang="en-US" sz="17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514D48-879E-5C1F-6591-DCFB8369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BFCF-B1C5-4584-88E3-8364A04ED9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4FEA-AD7C-95F8-245C-8D435B3B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4235"/>
          </a:xfrm>
        </p:spPr>
        <p:txBody>
          <a:bodyPr>
            <a:normAutofit fontScale="90000"/>
          </a:bodyPr>
          <a:lstStyle/>
          <a:p>
            <a:r>
              <a:rPr lang="en-US" dirty="0"/>
              <a:t>NERC Update on Large Loads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760AE0-E35A-EF2D-35E9-D362871B4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258" y="5953091"/>
            <a:ext cx="7886700" cy="6435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0E3E7-7802-32A9-E521-A9E97AEA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BFCF-B1C5-4584-88E3-8364A04ED9C0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A0CF6-2D2D-56AE-5992-2ED150130D72}"/>
              </a:ext>
            </a:extLst>
          </p:cNvPr>
          <p:cNvSpPr txBox="1"/>
          <p:nvPr/>
        </p:nvSpPr>
        <p:spPr>
          <a:xfrm>
            <a:off x="431754" y="4303349"/>
            <a:ext cx="79914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July 16th, FERC ordered NERC to file the following:</a:t>
            </a:r>
          </a:p>
          <a:p>
            <a:pPr lvl="1"/>
            <a:r>
              <a:rPr lang="en-US" dirty="0"/>
              <a:t>• One or more new or modified Reliability Standards to address the reliability risks associated with the integration of computational loads, including any associated Glossary definitions, by December 31, 2026. </a:t>
            </a:r>
          </a:p>
          <a:p>
            <a:pPr lvl="1"/>
            <a:r>
              <a:rPr lang="en-US" dirty="0"/>
              <a:t>• Submit revisions to NERC’s Rules of Procedure, expected by December 31, 2026.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3B254-7CA7-2369-546A-4E4DE22C57EA}"/>
              </a:ext>
            </a:extLst>
          </p:cNvPr>
          <p:cNvSpPr txBox="1"/>
          <p:nvPr/>
        </p:nvSpPr>
        <p:spPr>
          <a:xfrm>
            <a:off x="420491" y="1071695"/>
            <a:ext cx="82049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Computational Load Site </a:t>
            </a:r>
            <a:r>
              <a:rPr lang="en-US" dirty="0"/>
              <a:t>- One or more buildings, structures, or installations that:</a:t>
            </a:r>
          </a:p>
          <a:p>
            <a:r>
              <a:rPr lang="en-US" dirty="0"/>
              <a:t>	1. Primarily contains information technology infrastructure used for: </a:t>
            </a:r>
          </a:p>
          <a:p>
            <a:r>
              <a:rPr lang="en-US" dirty="0"/>
              <a:t>		◦ creating, executing, and delivering software applications and services; </a:t>
            </a:r>
          </a:p>
          <a:p>
            <a:r>
              <a:rPr lang="en-US" dirty="0"/>
              <a:t>		◦ artificial intelligence training, deployment, and delivery; </a:t>
            </a:r>
          </a:p>
          <a:p>
            <a:r>
              <a:rPr lang="en-US" dirty="0"/>
              <a:t>		◦ cryptocurrency mining; or </a:t>
            </a:r>
          </a:p>
          <a:p>
            <a:r>
              <a:rPr lang="en-US" dirty="0"/>
              <a:t>		◦ other computational activities at a data center; and </a:t>
            </a:r>
          </a:p>
          <a:p>
            <a:r>
              <a:rPr lang="en-US" dirty="0"/>
              <a:t>	2. is supplied through electrical equipment that is connected to the BPS.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484F5-73DF-08AD-2E3E-3A4D5CF931E7}"/>
              </a:ext>
            </a:extLst>
          </p:cNvPr>
          <p:cNvSpPr txBox="1"/>
          <p:nvPr/>
        </p:nvSpPr>
        <p:spPr>
          <a:xfrm>
            <a:off x="420491" y="3489283"/>
            <a:ext cx="8291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Registration only applicable for Computational Load Sites greater than or equal to </a:t>
            </a:r>
            <a:r>
              <a:rPr lang="en-US" b="1" dirty="0"/>
              <a:t>50</a:t>
            </a:r>
            <a:r>
              <a:rPr lang="en-US" dirty="0"/>
              <a:t> MW that is connected at a voltage greater than or equal to </a:t>
            </a:r>
            <a:r>
              <a:rPr lang="en-US" b="1" dirty="0"/>
              <a:t>100</a:t>
            </a:r>
            <a:r>
              <a:rPr lang="en-US" dirty="0"/>
              <a:t> kV</a:t>
            </a:r>
          </a:p>
        </p:txBody>
      </p:sp>
    </p:spTree>
    <p:extLst>
      <p:ext uri="{BB962C8B-B14F-4D97-AF65-F5344CB8AC3E}">
        <p14:creationId xmlns:p14="http://schemas.microsoft.com/office/powerpoint/2010/main" val="382695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4CE4-D123-2E36-5F68-B7AF6BCB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Dusted off Netted Network </a:t>
            </a:r>
            <a:br>
              <a:rPr lang="en-US" sz="4000" dirty="0"/>
            </a:br>
            <a:r>
              <a:rPr lang="en-US" sz="4000" dirty="0"/>
              <a:t>concept from 2024 – A lot of Interest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54AC8-1636-3A1E-C080-70D0BCEB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BFCF-B1C5-4584-88E3-8364A04ED9C0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8FF06-FDE1-2ED8-6DBC-3867115F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428" y="1835826"/>
            <a:ext cx="5328293" cy="3544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8CEFC-B32C-B305-EA50-C8A6BF69BA95}"/>
              </a:ext>
            </a:extLst>
          </p:cNvPr>
          <p:cNvSpPr txBox="1"/>
          <p:nvPr/>
        </p:nvSpPr>
        <p:spPr>
          <a:xfrm>
            <a:off x="628650" y="1835826"/>
            <a:ext cx="23245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Discussed as a path forward: improves ERCOT visibility, provides the potential for WSL treatment,  aligns with developments underway.</a:t>
            </a:r>
          </a:p>
          <a:p>
            <a:endParaRPr lang="en-US" dirty="0"/>
          </a:p>
          <a:p>
            <a:r>
              <a:rPr lang="en-US" dirty="0"/>
              <a:t>Still a lot of heavy lifting before this can move forward.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3C731-A48D-CF22-F698-03C147B70CFD}"/>
              </a:ext>
            </a:extLst>
          </p:cNvPr>
          <p:cNvSpPr txBox="1"/>
          <p:nvPr/>
        </p:nvSpPr>
        <p:spPr>
          <a:xfrm>
            <a:off x="390985" y="5745562"/>
            <a:ext cx="841878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Short-term LLWG focus – BTM BESS for VRT Support – Netted Network will take time.</a:t>
            </a:r>
          </a:p>
        </p:txBody>
      </p:sp>
    </p:spTree>
    <p:extLst>
      <p:ext uri="{BB962C8B-B14F-4D97-AF65-F5344CB8AC3E}">
        <p14:creationId xmlns:p14="http://schemas.microsoft.com/office/powerpoint/2010/main" val="200161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33C8-47EC-F1ED-6AFF-1FF3A4AD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ERCOT VRT becoming a standard?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F3D76-6967-53B4-53EB-53F00A58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BFCF-B1C5-4584-88E3-8364A04ED9C0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36F87-9FBA-1C86-178E-0EBF9758C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460" y="2111945"/>
            <a:ext cx="5311490" cy="2652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DC7441-6105-8EFD-1016-FFDC83076223}"/>
              </a:ext>
            </a:extLst>
          </p:cNvPr>
          <p:cNvSpPr txBox="1"/>
          <p:nvPr/>
        </p:nvSpPr>
        <p:spPr>
          <a:xfrm>
            <a:off x="533956" y="5061585"/>
            <a:ext cx="8209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– ERCOT may set the Standard, but there is no current test or testing facility to prove compliance.  ERCOT is uncomfortable disclosing who can meet the requirements.</a:t>
            </a:r>
          </a:p>
          <a:p>
            <a:r>
              <a:rPr lang="en-US" dirty="0"/>
              <a:t>Developers and Large Loads need a source to verify XYZ solution has  demonstrated acceptable performance.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410E4-02A4-6CCB-05D7-4CD403A15DCC}"/>
              </a:ext>
            </a:extLst>
          </p:cNvPr>
          <p:cNvSpPr txBox="1"/>
          <p:nvPr/>
        </p:nvSpPr>
        <p:spPr>
          <a:xfrm>
            <a:off x="583389" y="3270053"/>
            <a:ext cx="2660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ERCOT VRT requirements  are being looked at by other regions.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E0ABC7-C589-7DE9-744D-6B34F543023C}"/>
              </a:ext>
            </a:extLst>
          </p:cNvPr>
          <p:cNvSpPr/>
          <p:nvPr/>
        </p:nvSpPr>
        <p:spPr>
          <a:xfrm>
            <a:off x="3243784" y="1942266"/>
            <a:ext cx="1148006" cy="754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0ABFE56-3C60-FF57-FF13-339CCD82643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26190" y="3306984"/>
            <a:ext cx="1848822" cy="627814"/>
          </a:xfrm>
          <a:prstGeom prst="bentConnector3">
            <a:avLst>
              <a:gd name="adj1" fmla="val -18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7FC449-0A48-7D6F-DA13-5BD9C21C3924}"/>
              </a:ext>
            </a:extLst>
          </p:cNvPr>
          <p:cNvSpPr/>
          <p:nvPr/>
        </p:nvSpPr>
        <p:spPr>
          <a:xfrm>
            <a:off x="3432460" y="2111945"/>
            <a:ext cx="5311073" cy="26528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EB0F9-F992-3187-4C00-4B28B8336818}"/>
              </a:ext>
            </a:extLst>
          </p:cNvPr>
          <p:cNvSpPr txBox="1"/>
          <p:nvPr/>
        </p:nvSpPr>
        <p:spPr>
          <a:xfrm>
            <a:off x="583389" y="1690689"/>
            <a:ext cx="2469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July 22, PJM lost 3,800 MW of load as it transferred to backup generation.</a:t>
            </a:r>
          </a:p>
        </p:txBody>
      </p:sp>
    </p:spTree>
    <p:extLst>
      <p:ext uri="{BB962C8B-B14F-4D97-AF65-F5344CB8AC3E}">
        <p14:creationId xmlns:p14="http://schemas.microsoft.com/office/powerpoint/2010/main" val="147073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C011-6628-DBCC-943E-9276EF2E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2861"/>
            <a:ext cx="7886700" cy="860847"/>
          </a:xfrm>
        </p:spPr>
        <p:txBody>
          <a:bodyPr>
            <a:normAutofit/>
          </a:bodyPr>
          <a:lstStyle/>
          <a:p>
            <a:r>
              <a:rPr lang="en-US" sz="3600" dirty="0"/>
              <a:t>Next Meeting – VRT Solutions - Sept 17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EADED1-461A-7E2F-EB50-A7D7D87F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BFCF-B1C5-4584-88E3-8364A04ED9C0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C270F-5C8F-E1ED-5374-F1C189B10477}"/>
              </a:ext>
            </a:extLst>
          </p:cNvPr>
          <p:cNvSpPr txBox="1"/>
          <p:nvPr/>
        </p:nvSpPr>
        <p:spPr>
          <a:xfrm>
            <a:off x="752632" y="2197563"/>
            <a:ext cx="45936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Desire: </a:t>
            </a:r>
          </a:p>
          <a:p>
            <a:pPr marL="342900" indent="-342900">
              <a:buAutoNum type="arabicParenR"/>
            </a:pPr>
            <a:r>
              <a:rPr lang="en-US" dirty="0"/>
              <a:t>Data Centers that have proven VRT solutions</a:t>
            </a:r>
          </a:p>
          <a:p>
            <a:pPr marL="342900" indent="-342900">
              <a:buAutoNum type="arabicParenR"/>
            </a:pPr>
            <a:r>
              <a:rPr lang="en-US" dirty="0"/>
              <a:t>Vendors that have proven VRT solutions</a:t>
            </a:r>
          </a:p>
          <a:p>
            <a:pPr marL="342900" indent="-342900">
              <a:buAutoNum type="arabicParenR"/>
            </a:pPr>
            <a:r>
              <a:rPr lang="en-US" dirty="0"/>
              <a:t>Data Centers/Vendors that have ERCOT accepted Models for VRT</a:t>
            </a:r>
          </a:p>
          <a:p>
            <a:pPr marL="342900" indent="-342900">
              <a:buAutoNum type="arabicParenR"/>
            </a:pPr>
            <a:r>
              <a:rPr lang="en-US" dirty="0"/>
              <a:t>Vendors that have demo solutions</a:t>
            </a:r>
          </a:p>
          <a:p>
            <a:pPr marL="342900" indent="-342900">
              <a:buAutoNum type="arabicParenR"/>
            </a:pPr>
            <a:r>
              <a:rPr lang="en-US" dirty="0"/>
              <a:t>Vendors that have solutions on paper</a:t>
            </a:r>
          </a:p>
          <a:p>
            <a:pPr marL="342900" indent="-342900">
              <a:buAutoNum type="arabicParenR"/>
            </a:pPr>
            <a:r>
              <a:rPr lang="en-US" dirty="0"/>
              <a:t>Concepts for VRT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46B25-3F7F-0D4A-6E3C-B44E15F0F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607" y="2566895"/>
            <a:ext cx="3213647" cy="3113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95E1E-B1E5-5242-2829-97D2D7B0ACEA}"/>
              </a:ext>
            </a:extLst>
          </p:cNvPr>
          <p:cNvSpPr txBox="1"/>
          <p:nvPr/>
        </p:nvSpPr>
        <p:spPr>
          <a:xfrm>
            <a:off x="5840146" y="2197563"/>
            <a:ext cx="172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VRT Risk Areas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6DD23-9E32-ED07-EB5B-A41A203EE451}"/>
              </a:ext>
            </a:extLst>
          </p:cNvPr>
          <p:cNvSpPr txBox="1"/>
          <p:nvPr/>
        </p:nvSpPr>
        <p:spPr>
          <a:xfrm>
            <a:off x="752632" y="5312864"/>
            <a:ext cx="4847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have a solution and would like to present, please contract:</a:t>
            </a:r>
          </a:p>
          <a:p>
            <a:r>
              <a:rPr lang="en-US" dirty="0">
                <a:hlinkClick r:id="rId3"/>
              </a:rPr>
              <a:t>Bob@longhornpwr.com</a:t>
            </a:r>
            <a:r>
              <a:rPr lang="en-US" dirty="0"/>
              <a:t> and </a:t>
            </a:r>
            <a:r>
              <a:rPr lang="fr-FR" dirty="0">
                <a:hlinkClick r:id="rId4"/>
              </a:rPr>
              <a:t>Patrick.Gravois@ercot.com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ADE05-C49C-DD5A-853F-907D480C1CE4}"/>
              </a:ext>
            </a:extLst>
          </p:cNvPr>
          <p:cNvSpPr txBox="1"/>
          <p:nvPr/>
        </p:nvSpPr>
        <p:spPr>
          <a:xfrm>
            <a:off x="752632" y="1489677"/>
            <a:ext cx="7535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Focus on what is available now for VRT</a:t>
            </a:r>
          </a:p>
        </p:txBody>
      </p:sp>
    </p:spTree>
    <p:extLst>
      <p:ext uri="{BB962C8B-B14F-4D97-AF65-F5344CB8AC3E}">
        <p14:creationId xmlns:p14="http://schemas.microsoft.com/office/powerpoint/2010/main" val="208718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E502A-D2C2-4363-BDA3-BEE43E47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63E80-CFA3-8DF1-9369-81BB72FC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46837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5D4BFCF-B1C5-4584-88E3-8364A04ED9C0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6B10A9-174A-197F-E750-8350963BD8D8}"/>
              </a:ext>
            </a:extLst>
          </p:cNvPr>
          <p:cNvSpPr txBox="1"/>
          <p:nvPr/>
        </p:nvSpPr>
        <p:spPr>
          <a:xfrm>
            <a:off x="563991" y="5952291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/>
              <a:t>Bob Wittmeyer</a:t>
            </a:r>
          </a:p>
          <a:p>
            <a:pPr algn="l"/>
            <a:r>
              <a:rPr lang="en-US" sz="1900" dirty="0"/>
              <a:t>bob@longhornpwr.com</a:t>
            </a:r>
          </a:p>
        </p:txBody>
      </p:sp>
    </p:spTree>
    <p:extLst>
      <p:ext uri="{BB962C8B-B14F-4D97-AF65-F5344CB8AC3E}">
        <p14:creationId xmlns:p14="http://schemas.microsoft.com/office/powerpoint/2010/main" val="86543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