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 id="2147483660" r:id="rId5"/>
  </p:sldMasterIdLst>
  <p:notesMasterIdLst>
    <p:notesMasterId r:id="rId24"/>
  </p:notesMasterIdLst>
  <p:handoutMasterIdLst>
    <p:handoutMasterId r:id="rId25"/>
  </p:handoutMasterIdLst>
  <p:sldIdLst>
    <p:sldId id="2147478774" r:id="rId6"/>
    <p:sldId id="2147478792" r:id="rId7"/>
    <p:sldId id="2147478763" r:id="rId8"/>
    <p:sldId id="2147478775" r:id="rId9"/>
    <p:sldId id="2147478789" r:id="rId10"/>
    <p:sldId id="2147478776" r:id="rId11"/>
    <p:sldId id="2147478777" r:id="rId12"/>
    <p:sldId id="2147478778" r:id="rId13"/>
    <p:sldId id="2147478779" r:id="rId14"/>
    <p:sldId id="2147478780" r:id="rId15"/>
    <p:sldId id="2147478783" r:id="rId16"/>
    <p:sldId id="2147478782" r:id="rId17"/>
    <p:sldId id="2147478784" r:id="rId18"/>
    <p:sldId id="2147478786" r:id="rId19"/>
    <p:sldId id="2147478787" r:id="rId20"/>
    <p:sldId id="2147478788" r:id="rId21"/>
    <p:sldId id="2147478790" r:id="rId22"/>
    <p:sldId id="26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8/10/relationships/authors" Target="authors.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2F79F2-B3BA-8940-842B-E7FE18726898}"/>
              </a:ext>
            </a:extLst>
          </p:cNvPr>
          <p:cNvSpPr>
            <a:spLocks noGrp="1"/>
          </p:cNvSpPr>
          <p:nvPr>
            <p:ph type="ctrTitle"/>
          </p:nvPr>
        </p:nvSpPr>
        <p:spPr/>
        <p:txBody>
          <a:bodyPr lIns="91440" tIns="45720" rIns="91440" bIns="45720" anchor="t">
            <a:normAutofit/>
          </a:bodyPr>
          <a:lstStyle/>
          <a:p>
            <a:r>
              <a:rPr lang="en-US" sz="2800" b="0" dirty="0"/>
              <a:t>Large Load Interconnection Status Update</a:t>
            </a:r>
            <a:br>
              <a:rPr lang="en-US" sz="2800" b="0" dirty="0"/>
            </a:br>
            <a:br>
              <a:rPr lang="en-US" sz="2800" b="0" dirty="0"/>
            </a:br>
            <a:br>
              <a:rPr lang="en-US" b="0" i="1" dirty="0">
                <a:solidFill>
                  <a:schemeClr val="tx2"/>
                </a:solidFill>
              </a:rPr>
            </a:br>
            <a:r>
              <a:rPr lang="en-US" sz="1800" b="0" dirty="0">
                <a:solidFill>
                  <a:schemeClr val="tx2"/>
                </a:solidFill>
              </a:rPr>
              <a:t>Large Load Integration Team</a:t>
            </a:r>
            <a:br>
              <a:rPr lang="en-US" sz="1800" b="0" dirty="0">
                <a:solidFill>
                  <a:schemeClr val="tx2"/>
                </a:solidFill>
              </a:rPr>
            </a:br>
            <a:br>
              <a:rPr lang="en-US" sz="1800" b="0" dirty="0"/>
            </a:br>
            <a:br>
              <a:rPr lang="en-US" b="0" dirty="0"/>
            </a:br>
            <a:br>
              <a:rPr lang="en-US" b="0" dirty="0"/>
            </a:br>
            <a:r>
              <a:rPr lang="en-US" sz="1800" b="0" dirty="0">
                <a:solidFill>
                  <a:schemeClr val="tx2"/>
                </a:solidFill>
              </a:rPr>
              <a:t>June 19, 2026</a:t>
            </a:r>
            <a:br>
              <a:rPr lang="en-US" sz="1800" dirty="0">
                <a:solidFill>
                  <a:schemeClr val="tx2"/>
                </a:solidFill>
                <a:cs typeface="Arial"/>
              </a:rPr>
            </a:br>
            <a:br>
              <a:rPr lang="en-US" dirty="0">
                <a:solidFill>
                  <a:schemeClr val="tx2"/>
                </a:solidFill>
                <a:cs typeface="Arial"/>
              </a:rPr>
            </a:br>
            <a:endParaRPr lang="en-US" dirty="0"/>
          </a:p>
        </p:txBody>
      </p:sp>
    </p:spTree>
    <p:extLst>
      <p:ext uri="{BB962C8B-B14F-4D97-AF65-F5344CB8AC3E}">
        <p14:creationId xmlns:p14="http://schemas.microsoft.com/office/powerpoint/2010/main" val="3773123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F678-6A0D-79EC-C7EE-DA7611A4DC85}"/>
              </a:ext>
            </a:extLst>
          </p:cNvPr>
          <p:cNvSpPr>
            <a:spLocks noGrp="1"/>
          </p:cNvSpPr>
          <p:nvPr>
            <p:ph type="title"/>
          </p:nvPr>
        </p:nvSpPr>
        <p:spPr/>
        <p:txBody>
          <a:bodyPr/>
          <a:lstStyle/>
          <a:p>
            <a:r>
              <a:rPr lang="en-US" dirty="0"/>
              <a:t>Notes on the Content of this Presentation</a:t>
            </a:r>
          </a:p>
        </p:txBody>
      </p:sp>
      <p:sp>
        <p:nvSpPr>
          <p:cNvPr id="3" name="Text Placeholder 2">
            <a:extLst>
              <a:ext uri="{FF2B5EF4-FFF2-40B4-BE49-F238E27FC236}">
                <a16:creationId xmlns:a16="http://schemas.microsoft.com/office/drawing/2014/main" id="{4F354A1E-CD68-552F-EE3B-6D5CE6D86FB3}"/>
              </a:ext>
            </a:extLst>
          </p:cNvPr>
          <p:cNvSpPr>
            <a:spLocks noGrp="1"/>
          </p:cNvSpPr>
          <p:nvPr>
            <p:ph type="body" sz="quarter" idx="16"/>
          </p:nvPr>
        </p:nvSpPr>
        <p:spPr/>
        <p:txBody>
          <a:bodyPr/>
          <a:lstStyle/>
          <a:p>
            <a:pPr marL="285750" indent="-285750">
              <a:buFont typeface="Arial" panose="020B0604020202020204" pitchFamily="34" charset="0"/>
              <a:buChar char="•"/>
            </a:pPr>
            <a:r>
              <a:rPr lang="en-US" dirty="0"/>
              <a:t>All data presented on the following slides is current as of June 18, 2026 unless otherwise noted.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charts on the following slides that contain references to Sections 9.4 and 9.5 of the ERCOT Planning Guide also include Large Loads that met the equivalent requirements under the interim Large Load process established in March 2022.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Since the May update, ERCOT has been reviewing the LLIS data in preparation for Batch Zero. This resulted in some LLI tickets being identified as cancelled or duplicate. These tickets were removed. Additionally, some tickets representing multiple stages of the same load request being combined into a single LLI number.</a:t>
            </a:r>
          </a:p>
          <a:p>
            <a:pPr marL="834390" lvl="1" indent="-285750"/>
            <a:r>
              <a:rPr lang="en-US" dirty="0"/>
              <a:t>These changes are reflected on the subsequent graphs. </a:t>
            </a:r>
          </a:p>
          <a:p>
            <a:pPr marL="834390" lvl="1" indent="-285750"/>
            <a:r>
              <a:rPr lang="en-US" dirty="0"/>
              <a:t>The decrease in 9.4/9.5 approved load between May and June on slide 6 is a result of the removal of duplicate tickets.</a:t>
            </a:r>
          </a:p>
          <a:p>
            <a:pPr marL="834390" lvl="1" indent="-285750"/>
            <a:endParaRPr lang="en-US" dirty="0"/>
          </a:p>
          <a:p>
            <a:pPr marL="285750" indent="-285750">
              <a:buFont typeface="Arial" panose="020B0604020202020204" pitchFamily="34" charset="0"/>
              <a:buChar char="•"/>
            </a:pPr>
            <a:r>
              <a:rPr lang="en-US" dirty="0"/>
              <a:t>This month’s update also adds a table to the Batch Zero status data on slide 17.</a:t>
            </a:r>
          </a:p>
        </p:txBody>
      </p:sp>
      <p:sp>
        <p:nvSpPr>
          <p:cNvPr id="4" name="Slide Number Placeholder 3">
            <a:extLst>
              <a:ext uri="{FF2B5EF4-FFF2-40B4-BE49-F238E27FC236}">
                <a16:creationId xmlns:a16="http://schemas.microsoft.com/office/drawing/2014/main" id="{7D151EBF-3229-5172-07B5-9AC3BC0BA940}"/>
              </a:ext>
            </a:extLst>
          </p:cNvPr>
          <p:cNvSpPr>
            <a:spLocks noGrp="1"/>
          </p:cNvSpPr>
          <p:nvPr>
            <p:ph type="sldNum" sz="quarter" idx="12"/>
          </p:nvPr>
        </p:nvSpPr>
        <p:spPr/>
        <p:txBody>
          <a:bodyPr/>
          <a:lstStyle/>
          <a:p>
            <a:fld id="{BCDE79FB-97BA-492B-8D57-F1373F9ADA95}" type="slidenum">
              <a:rPr lang="en-US" smtClean="0"/>
              <a:t>2</a:t>
            </a:fld>
            <a:endParaRPr lang="en-US" dirty="0"/>
          </a:p>
        </p:txBody>
      </p:sp>
    </p:spTree>
    <p:extLst>
      <p:ext uri="{BB962C8B-B14F-4D97-AF65-F5344CB8AC3E}">
        <p14:creationId xmlns:p14="http://schemas.microsoft.com/office/powerpoint/2010/main" val="3436600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6C0C0-0BCB-DB26-662D-330CD3E12C91}"/>
              </a:ext>
            </a:extLst>
          </p:cNvPr>
          <p:cNvSpPr>
            <a:spLocks noGrp="1"/>
          </p:cNvSpPr>
          <p:nvPr>
            <p:ph type="title"/>
          </p:nvPr>
        </p:nvSpPr>
        <p:spPr/>
        <p:txBody>
          <a:bodyPr/>
          <a:lstStyle/>
          <a:p>
            <a:r>
              <a:rPr lang="en-US" dirty="0"/>
              <a:t>Large Load Queue – Past 12 Months</a:t>
            </a:r>
          </a:p>
        </p:txBody>
      </p:sp>
      <p:sp>
        <p:nvSpPr>
          <p:cNvPr id="4" name="Slide Number Placeholder 3">
            <a:extLst>
              <a:ext uri="{FF2B5EF4-FFF2-40B4-BE49-F238E27FC236}">
                <a16:creationId xmlns:a16="http://schemas.microsoft.com/office/drawing/2014/main" id="{C31AA175-1712-7D6A-A857-023F303E9B5A}"/>
              </a:ext>
            </a:extLst>
          </p:cNvPr>
          <p:cNvSpPr>
            <a:spLocks noGrp="1"/>
          </p:cNvSpPr>
          <p:nvPr>
            <p:ph type="sldNum" sz="quarter" idx="12"/>
          </p:nvPr>
        </p:nvSpPr>
        <p:spPr/>
        <p:txBody>
          <a:bodyPr/>
          <a:lstStyle/>
          <a:p>
            <a:fld id="{BCDE79FB-97BA-492B-8D57-F1373F9ADA95}" type="slidenum">
              <a:rPr lang="en-US" smtClean="0"/>
              <a:t>3</a:t>
            </a:fld>
            <a:endParaRPr lang="en-US" dirty="0"/>
          </a:p>
        </p:txBody>
      </p:sp>
      <p:pic>
        <p:nvPicPr>
          <p:cNvPr id="6" name="Picture 5" descr="stacked_bar_chart.png"/>
          <p:cNvPicPr>
            <a:picLocks noChangeAspect="1"/>
          </p:cNvPicPr>
          <p:nvPr/>
        </p:nvPicPr>
        <p:blipFill>
          <a:blip r:embed="rId2"/>
          <a:stretch>
            <a:fillRect/>
          </a:stretch>
        </p:blipFill>
        <p:spPr>
          <a:xfrm>
            <a:off x="914400" y="914400"/>
            <a:ext cx="10058400" cy="5486400"/>
          </a:xfrm>
          <a:prstGeom prst="rect">
            <a:avLst/>
          </a:prstGeom>
        </p:spPr>
      </p:pic>
    </p:spTree>
    <p:extLst>
      <p:ext uri="{BB962C8B-B14F-4D97-AF65-F5344CB8AC3E}">
        <p14:creationId xmlns:p14="http://schemas.microsoft.com/office/powerpoint/2010/main" val="1876632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65A8B-3EC9-3D39-1F26-26DD84DDE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4D77C-EAAF-778A-1C52-53906D6B63E7}"/>
              </a:ext>
            </a:extLst>
          </p:cNvPr>
          <p:cNvSpPr>
            <a:spLocks noGrp="1"/>
          </p:cNvSpPr>
          <p:nvPr>
            <p:ph type="title"/>
          </p:nvPr>
        </p:nvSpPr>
        <p:spPr/>
        <p:txBody>
          <a:bodyPr/>
          <a:lstStyle/>
          <a:p>
            <a:r>
              <a:rPr lang="en-US" dirty="0"/>
              <a:t>Status of Current LLIS Requests</a:t>
            </a:r>
          </a:p>
        </p:txBody>
      </p:sp>
      <p:sp>
        <p:nvSpPr>
          <p:cNvPr id="4" name="Slide Number Placeholder 3">
            <a:extLst>
              <a:ext uri="{FF2B5EF4-FFF2-40B4-BE49-F238E27FC236}">
                <a16:creationId xmlns:a16="http://schemas.microsoft.com/office/drawing/2014/main" id="{9282E127-CAF6-5205-F54E-084C72B93A8D}"/>
              </a:ext>
            </a:extLst>
          </p:cNvPr>
          <p:cNvSpPr>
            <a:spLocks noGrp="1"/>
          </p:cNvSpPr>
          <p:nvPr>
            <p:ph type="sldNum" sz="quarter" idx="12"/>
          </p:nvPr>
        </p:nvSpPr>
        <p:spPr/>
        <p:txBody>
          <a:bodyPr/>
          <a:lstStyle/>
          <a:p>
            <a:fld id="{BCDE79FB-97BA-492B-8D57-F1373F9ADA95}" type="slidenum">
              <a:rPr lang="en-US" smtClean="0"/>
              <a:t>4</a:t>
            </a:fld>
            <a:endParaRPr lang="en-US" dirty="0"/>
          </a:p>
        </p:txBody>
      </p:sp>
      <p:sp>
        <p:nvSpPr>
          <p:cNvPr id="5" name="Content Placeholder 2">
            <a:extLst>
              <a:ext uri="{FF2B5EF4-FFF2-40B4-BE49-F238E27FC236}">
                <a16:creationId xmlns:a16="http://schemas.microsoft.com/office/drawing/2014/main" id="{242F0560-E1A8-ABE0-A9E6-CDA6F7623475}"/>
              </a:ext>
            </a:extLst>
          </p:cNvPr>
          <p:cNvSpPr txBox="1">
            <a:spLocks/>
          </p:cNvSpPr>
          <p:nvPr/>
        </p:nvSpPr>
        <p:spPr>
          <a:xfrm>
            <a:off x="8013290" y="762001"/>
            <a:ext cx="4042326" cy="5490080"/>
          </a:xfrm>
          <a:prstGeom prst="rect">
            <a:avLst/>
          </a:prstGeom>
        </p:spPr>
        <p:txBody>
          <a:bodyPr lIns="91440" tIns="45720" rIns="91440" bIns="45720" anchor="t"/>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tx1"/>
                </a:solidFill>
                <a:latin typeface="+mn-lt"/>
                <a:ea typeface="+mn-ea"/>
                <a:cs typeface="+mn-cs"/>
              </a:defRPr>
            </a:lvl1pPr>
            <a:lvl2pPr marL="54864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2pPr>
            <a:lvl3pPr marL="73152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3pPr>
            <a:lvl4pPr marL="91440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4pPr>
            <a:lvl5pPr marL="109728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2713" indent="-112713"/>
            <a:r>
              <a:rPr lang="en-US" sz="1200" b="1" dirty="0"/>
              <a:t>No Studies Submitted – </a:t>
            </a:r>
            <a:r>
              <a:rPr lang="en-US" sz="1200" dirty="0"/>
              <a:t>Projects that are tracked by ERCOT but that have not yet met the requirements to start the study kick-off process under Section 9.3.2 of the Planning Guide. </a:t>
            </a:r>
          </a:p>
          <a:p>
            <a:pPr marL="112713" indent="-112713"/>
            <a:r>
              <a:rPr lang="en-US" sz="1200" b="1" dirty="0"/>
              <a:t>Under ERCOT Review – </a:t>
            </a:r>
            <a:r>
              <a:rPr lang="en-US" sz="1200" dirty="0"/>
              <a:t>Projects that have are in the study process described in Section 9.3.3 of the Planning Guide.</a:t>
            </a:r>
          </a:p>
          <a:p>
            <a:pPr marL="112713" indent="-112713"/>
            <a:r>
              <a:rPr lang="en-US" sz="1200" b="1" dirty="0"/>
              <a:t>Section 9.4 Requirements Only – </a:t>
            </a:r>
            <a:r>
              <a:rPr lang="en-US" sz="1200" dirty="0"/>
              <a:t>Projects that have completed all required elements of the LLIS as described in Section 9.4 but have not yet met the commitment criteria in Section 9.5. These projects are subject to restudy in the event a material change impacting study assumptions occurs before the requirements of Section 9.5 are met.</a:t>
            </a:r>
          </a:p>
          <a:p>
            <a:pPr marL="112713" indent="-112713"/>
            <a:r>
              <a:rPr lang="en-US" sz="1200" b="1" dirty="0"/>
              <a:t>Section 9.4/9.5 Requirements Met – </a:t>
            </a:r>
            <a:r>
              <a:rPr lang="en-US" sz="1200" dirty="0"/>
              <a:t>Projects that have completed all required elements of the LLIS as described in Section 9.4 and met the commitment criteria in Section 9.5. </a:t>
            </a:r>
          </a:p>
          <a:p>
            <a:pPr marL="112713" indent="-112713"/>
            <a:r>
              <a:rPr lang="en-US" sz="1200" b="1" dirty="0"/>
              <a:t>Approved to Energized but Not Operational – </a:t>
            </a:r>
            <a:r>
              <a:rPr lang="en-US" sz="1200" dirty="0"/>
              <a:t>MWs that have received Approval to Energize from ERCOT Operations but are not yet observed to be operational.</a:t>
            </a:r>
          </a:p>
          <a:p>
            <a:pPr marL="112713" indent="-112713"/>
            <a:r>
              <a:rPr lang="en-US" sz="1200" b="1" dirty="0"/>
              <a:t>Observed Energized – </a:t>
            </a:r>
            <a:r>
              <a:rPr lang="en-US" sz="1200" dirty="0"/>
              <a:t>MWs that have received Approval to Energize from ERCOT Operations and are observed to be operational. Represented by all time non-simultaneous peak load consumption.</a:t>
            </a:r>
          </a:p>
          <a:p>
            <a:endParaRPr lang="en-US" dirty="0"/>
          </a:p>
        </p:txBody>
      </p:sp>
      <p:pic>
        <p:nvPicPr>
          <p:cNvPr id="7" name="Picture 6" descr="projected_large_load_growth_with_in_service_dates.png"/>
          <p:cNvPicPr>
            <a:picLocks noChangeAspect="1"/>
          </p:cNvPicPr>
          <p:nvPr/>
        </p:nvPicPr>
        <p:blipFill>
          <a:blip r:embed="rId2"/>
          <a:stretch>
            <a:fillRect/>
          </a:stretch>
        </p:blipFill>
        <p:spPr>
          <a:xfrm>
            <a:off x="457200" y="914400"/>
            <a:ext cx="7424928" cy="5303520"/>
          </a:xfrm>
          <a:prstGeom prst="rect">
            <a:avLst/>
          </a:prstGeom>
        </p:spPr>
      </p:pic>
    </p:spTree>
    <p:extLst>
      <p:ext uri="{BB962C8B-B14F-4D97-AF65-F5344CB8AC3E}">
        <p14:creationId xmlns:p14="http://schemas.microsoft.com/office/powerpoint/2010/main" val="2716901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3EBA-AFC0-6433-854C-8ECE78AC9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C0D41-CA79-0C0E-BADD-1F33CCC82760}"/>
              </a:ext>
            </a:extLst>
          </p:cNvPr>
          <p:cNvSpPr>
            <a:spLocks noGrp="1"/>
          </p:cNvSpPr>
          <p:nvPr>
            <p:ph type="title"/>
          </p:nvPr>
        </p:nvSpPr>
        <p:spPr/>
        <p:txBody>
          <a:bodyPr/>
          <a:lstStyle/>
          <a:p>
            <a:r>
              <a:rPr lang="en-US" dirty="0"/>
              <a:t>Status of Current LLIS Requests with Studies In Progress or Complete</a:t>
            </a:r>
          </a:p>
        </p:txBody>
      </p:sp>
      <p:sp>
        <p:nvSpPr>
          <p:cNvPr id="4" name="Slide Number Placeholder 3">
            <a:extLst>
              <a:ext uri="{FF2B5EF4-FFF2-40B4-BE49-F238E27FC236}">
                <a16:creationId xmlns:a16="http://schemas.microsoft.com/office/drawing/2014/main" id="{FD4D8914-F089-CEEE-3509-0353EA3ED53B}"/>
              </a:ext>
            </a:extLst>
          </p:cNvPr>
          <p:cNvSpPr>
            <a:spLocks noGrp="1"/>
          </p:cNvSpPr>
          <p:nvPr>
            <p:ph type="sldNum" sz="quarter" idx="12"/>
          </p:nvPr>
        </p:nvSpPr>
        <p:spPr/>
        <p:txBody>
          <a:bodyPr/>
          <a:lstStyle/>
          <a:p>
            <a:fld id="{BCDE79FB-97BA-492B-8D57-F1373F9ADA95}" type="slidenum">
              <a:rPr lang="en-US" smtClean="0"/>
              <a:t>5</a:t>
            </a:fld>
            <a:endParaRPr lang="en-US" dirty="0"/>
          </a:p>
        </p:txBody>
      </p:sp>
      <p:sp>
        <p:nvSpPr>
          <p:cNvPr id="5" name="Content Placeholder 2">
            <a:extLst>
              <a:ext uri="{FF2B5EF4-FFF2-40B4-BE49-F238E27FC236}">
                <a16:creationId xmlns:a16="http://schemas.microsoft.com/office/drawing/2014/main" id="{B6DB1B2A-7DBF-080C-1EC6-6DF7FFBB7A3F}"/>
              </a:ext>
            </a:extLst>
          </p:cNvPr>
          <p:cNvSpPr txBox="1">
            <a:spLocks/>
          </p:cNvSpPr>
          <p:nvPr/>
        </p:nvSpPr>
        <p:spPr>
          <a:xfrm>
            <a:off x="8052620" y="1231395"/>
            <a:ext cx="4042326" cy="5490080"/>
          </a:xfrm>
          <a:prstGeom prst="rect">
            <a:avLst/>
          </a:prstGeom>
        </p:spPr>
        <p:txBody>
          <a:bodyPr lIns="91440" tIns="45720" rIns="91440" bIns="45720" anchor="t"/>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tx1"/>
                </a:solidFill>
                <a:latin typeface="+mn-lt"/>
                <a:ea typeface="+mn-ea"/>
                <a:cs typeface="+mn-cs"/>
              </a:defRPr>
            </a:lvl1pPr>
            <a:lvl2pPr marL="54864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2pPr>
            <a:lvl3pPr marL="73152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3pPr>
            <a:lvl4pPr marL="91440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4pPr>
            <a:lvl5pPr marL="109728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2713" indent="-112713"/>
            <a:r>
              <a:rPr lang="en-US" sz="1200" b="1" dirty="0"/>
              <a:t>Under ERCOT Review – </a:t>
            </a:r>
            <a:r>
              <a:rPr lang="en-US" sz="1200" dirty="0"/>
              <a:t>Projects that have are in the study process described in Section 9.3.3 of the Planning Guide.</a:t>
            </a:r>
          </a:p>
          <a:p>
            <a:pPr marL="112713" indent="-112713"/>
            <a:r>
              <a:rPr lang="en-US" sz="1200" b="1" dirty="0"/>
              <a:t>Section 9.4 Requirements Only – </a:t>
            </a:r>
            <a:r>
              <a:rPr lang="en-US" sz="1200" dirty="0"/>
              <a:t>Projects that have completed all required elements of the LLIS as described in Section 9.4 but have not yet met the commitment criteria in Section 9.5. These projects are subject to restudy in the event a material change impacting study assumptions occurs before the requirements of Section 9.5 are met.</a:t>
            </a:r>
          </a:p>
          <a:p>
            <a:pPr marL="112713" indent="-112713"/>
            <a:r>
              <a:rPr lang="en-US" sz="1200" b="1" dirty="0"/>
              <a:t>Section 9.4/9.5 Requirements Met – </a:t>
            </a:r>
            <a:r>
              <a:rPr lang="en-US" sz="1200" dirty="0"/>
              <a:t>Projects that have completed all required elements of the LLIS as described in Section 9.4 and met the commitment criteria in Section 9.5. </a:t>
            </a:r>
          </a:p>
          <a:p>
            <a:pPr marL="112713" indent="-112713"/>
            <a:r>
              <a:rPr lang="en-US" sz="1200" b="1" dirty="0"/>
              <a:t>Approved to Energized but Not Operational – </a:t>
            </a:r>
            <a:r>
              <a:rPr lang="en-US" sz="1200" dirty="0"/>
              <a:t>MWs that have received Approval to Energize from ERCOT Operations but are not yet observed to be operational.</a:t>
            </a:r>
          </a:p>
          <a:p>
            <a:pPr marL="112713" indent="-112713"/>
            <a:r>
              <a:rPr lang="en-US" sz="1200" b="1" dirty="0"/>
              <a:t>Observed Energized – </a:t>
            </a:r>
            <a:r>
              <a:rPr lang="en-US" sz="1200" dirty="0"/>
              <a:t>MWs that have received Approval to Energize from ERCOT Operations and are observed to be operational. Represented by all time non-simultaneous peak load consumption.</a:t>
            </a:r>
          </a:p>
          <a:p>
            <a:endParaRPr lang="en-US" dirty="0"/>
          </a:p>
        </p:txBody>
      </p:sp>
      <p:pic>
        <p:nvPicPr>
          <p:cNvPr id="7" name="Picture 6" descr="projected_large_load_growth_with_in_service_dates.png"/>
          <p:cNvPicPr>
            <a:picLocks noChangeAspect="1"/>
          </p:cNvPicPr>
          <p:nvPr/>
        </p:nvPicPr>
        <p:blipFill>
          <a:blip r:embed="rId2"/>
          <a:stretch>
            <a:fillRect/>
          </a:stretch>
        </p:blipFill>
        <p:spPr>
          <a:xfrm>
            <a:off x="457200" y="914400"/>
            <a:ext cx="7424928" cy="5303520"/>
          </a:xfrm>
          <a:prstGeom prst="rect">
            <a:avLst/>
          </a:prstGeom>
        </p:spPr>
      </p:pic>
      <p:pic>
        <p:nvPicPr>
          <p:cNvPr id="8" name="Picture 7" descr="projected_large_load_growth_excl_no_studies.png"/>
          <p:cNvPicPr>
            <a:picLocks noChangeAspect="1"/>
          </p:cNvPicPr>
          <p:nvPr/>
        </p:nvPicPr>
        <p:blipFill>
          <a:blip r:embed="rId3"/>
          <a:stretch>
            <a:fillRect/>
          </a:stretch>
        </p:blipFill>
        <p:spPr>
          <a:xfrm>
            <a:off x="457200" y="914400"/>
            <a:ext cx="7424928" cy="5303520"/>
          </a:xfrm>
          <a:prstGeom prst="rect">
            <a:avLst/>
          </a:prstGeom>
        </p:spPr>
      </p:pic>
    </p:spTree>
    <p:extLst>
      <p:ext uri="{BB962C8B-B14F-4D97-AF65-F5344CB8AC3E}">
        <p14:creationId xmlns:p14="http://schemas.microsoft.com/office/powerpoint/2010/main" val="1772965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F4F95-259C-711B-F6C4-4BF07B374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3711C-A4EB-2904-9D25-8D6BCB280A90}"/>
              </a:ext>
            </a:extLst>
          </p:cNvPr>
          <p:cNvSpPr>
            <a:spLocks noGrp="1"/>
          </p:cNvSpPr>
          <p:nvPr>
            <p:ph type="title"/>
          </p:nvPr>
        </p:nvSpPr>
        <p:spPr/>
        <p:txBody>
          <a:bodyPr/>
          <a:lstStyle/>
          <a:p>
            <a:r>
              <a:rPr lang="en-US" dirty="0"/>
              <a:t>ERCOT Approvals – Past 12 Months</a:t>
            </a:r>
          </a:p>
        </p:txBody>
      </p:sp>
      <p:sp>
        <p:nvSpPr>
          <p:cNvPr id="4" name="Slide Number Placeholder 3">
            <a:extLst>
              <a:ext uri="{FF2B5EF4-FFF2-40B4-BE49-F238E27FC236}">
                <a16:creationId xmlns:a16="http://schemas.microsoft.com/office/drawing/2014/main" id="{DC696CA7-58C9-5F88-A589-3ADA05C79362}"/>
              </a:ext>
            </a:extLst>
          </p:cNvPr>
          <p:cNvSpPr>
            <a:spLocks noGrp="1"/>
          </p:cNvSpPr>
          <p:nvPr>
            <p:ph type="sldNum" sz="quarter" idx="12"/>
          </p:nvPr>
        </p:nvSpPr>
        <p:spPr/>
        <p:txBody>
          <a:bodyPr/>
          <a:lstStyle/>
          <a:p>
            <a:fld id="{BCDE79FB-97BA-492B-8D57-F1373F9ADA95}" type="slidenum">
              <a:rPr lang="en-US" smtClean="0"/>
              <a:t>6</a:t>
            </a:fld>
            <a:endParaRPr lang="en-US" dirty="0"/>
          </a:p>
        </p:txBody>
      </p:sp>
      <p:pic>
        <p:nvPicPr>
          <p:cNvPr id="7" name="Picture 6" descr="approved_to_energize_chart.png"/>
          <p:cNvPicPr>
            <a:picLocks noChangeAspect="1"/>
          </p:cNvPicPr>
          <p:nvPr/>
        </p:nvPicPr>
        <p:blipFill>
          <a:blip r:embed="rId2"/>
          <a:stretch>
            <a:fillRect/>
          </a:stretch>
        </p:blipFill>
        <p:spPr>
          <a:xfrm>
            <a:off x="457200" y="914400"/>
            <a:ext cx="10058400" cy="5486400"/>
          </a:xfrm>
          <a:prstGeom prst="rect">
            <a:avLst/>
          </a:prstGeom>
        </p:spPr>
      </p:pic>
    </p:spTree>
    <p:extLst>
      <p:ext uri="{BB962C8B-B14F-4D97-AF65-F5344CB8AC3E}">
        <p14:creationId xmlns:p14="http://schemas.microsoft.com/office/powerpoint/2010/main" val="1675601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C8842-15B6-7F4B-C6F1-C1057314F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F374D-5EF4-57E4-900B-C74DD37F39A8}"/>
              </a:ext>
            </a:extLst>
          </p:cNvPr>
          <p:cNvSpPr>
            <a:spLocks noGrp="1"/>
          </p:cNvSpPr>
          <p:nvPr>
            <p:ph type="title"/>
          </p:nvPr>
        </p:nvSpPr>
        <p:spPr/>
        <p:txBody>
          <a:bodyPr/>
          <a:lstStyle/>
          <a:p>
            <a:r>
              <a:rPr lang="en-US" dirty="0"/>
              <a:t>Loads Approved to Energize – By Zone &amp; Project Type</a:t>
            </a:r>
          </a:p>
        </p:txBody>
      </p:sp>
      <p:sp>
        <p:nvSpPr>
          <p:cNvPr id="4" name="Slide Number Placeholder 3">
            <a:extLst>
              <a:ext uri="{FF2B5EF4-FFF2-40B4-BE49-F238E27FC236}">
                <a16:creationId xmlns:a16="http://schemas.microsoft.com/office/drawing/2014/main" id="{587D2844-40EC-D8F0-C4A6-3A54FE579333}"/>
              </a:ext>
            </a:extLst>
          </p:cNvPr>
          <p:cNvSpPr>
            <a:spLocks noGrp="1"/>
          </p:cNvSpPr>
          <p:nvPr>
            <p:ph type="sldNum" sz="quarter" idx="12"/>
          </p:nvPr>
        </p:nvSpPr>
        <p:spPr/>
        <p:txBody>
          <a:bodyPr/>
          <a:lstStyle/>
          <a:p>
            <a:fld id="{BCDE79FB-97BA-492B-8D57-F1373F9ADA95}" type="slidenum">
              <a:rPr lang="en-US" smtClean="0"/>
              <a:t>7</a:t>
            </a:fld>
            <a:endParaRPr lang="en-US" dirty="0"/>
          </a:p>
        </p:txBody>
      </p:sp>
      <p:pic>
        <p:nvPicPr>
          <p:cNvPr id="7" name="Picture 6" descr="west_vs_other_stacked_load.png"/>
          <p:cNvPicPr>
            <a:picLocks noChangeAspect="1"/>
          </p:cNvPicPr>
          <p:nvPr/>
        </p:nvPicPr>
        <p:blipFill>
          <a:blip r:embed="rId2"/>
          <a:stretch>
            <a:fillRect/>
          </a:stretch>
        </p:blipFill>
        <p:spPr>
          <a:xfrm>
            <a:off x="365760" y="1828800"/>
            <a:ext cx="5730240" cy="4297680"/>
          </a:xfrm>
          <a:prstGeom prst="rect">
            <a:avLst/>
          </a:prstGeom>
        </p:spPr>
      </p:pic>
      <p:pic>
        <p:nvPicPr>
          <p:cNvPr id="8" name="Picture 7" descr="colocated_vs_standalone_stacked_load.png"/>
          <p:cNvPicPr>
            <a:picLocks noChangeAspect="1"/>
          </p:cNvPicPr>
          <p:nvPr/>
        </p:nvPicPr>
        <p:blipFill>
          <a:blip r:embed="rId3"/>
          <a:stretch>
            <a:fillRect/>
          </a:stretch>
        </p:blipFill>
        <p:spPr>
          <a:xfrm>
            <a:off x="6217920" y="1828800"/>
            <a:ext cx="5730240" cy="4297680"/>
          </a:xfrm>
          <a:prstGeom prst="rect">
            <a:avLst/>
          </a:prstGeom>
        </p:spPr>
      </p:pic>
    </p:spTree>
    <p:extLst>
      <p:ext uri="{BB962C8B-B14F-4D97-AF65-F5344CB8AC3E}">
        <p14:creationId xmlns:p14="http://schemas.microsoft.com/office/powerpoint/2010/main" val="3986355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26C48-7312-BF55-C9F4-2AB69EAB7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B820E-015B-0690-A9FA-1A7106F570FF}"/>
              </a:ext>
            </a:extLst>
          </p:cNvPr>
          <p:cNvSpPr>
            <a:spLocks noGrp="1"/>
          </p:cNvSpPr>
          <p:nvPr>
            <p:ph type="title"/>
          </p:nvPr>
        </p:nvSpPr>
        <p:spPr/>
        <p:txBody>
          <a:bodyPr/>
          <a:lstStyle/>
          <a:p>
            <a:r>
              <a:rPr lang="en-US" dirty="0"/>
              <a:t>Loads Approved to Energize – Observations 1</a:t>
            </a:r>
          </a:p>
        </p:txBody>
      </p:sp>
      <p:sp>
        <p:nvSpPr>
          <p:cNvPr id="3" name="Text Placeholder 2">
            <a:extLst>
              <a:ext uri="{FF2B5EF4-FFF2-40B4-BE49-F238E27FC236}">
                <a16:creationId xmlns:a16="http://schemas.microsoft.com/office/drawing/2014/main" id="{DCC5D89D-E30C-00BC-502D-D5FFD4055C93}"/>
              </a:ext>
            </a:extLst>
          </p:cNvPr>
          <p:cNvSpPr>
            <a:spLocks noGrp="1"/>
          </p:cNvSpPr>
          <p:nvPr>
            <p:ph type="body" sz="quarter" idx="16"/>
          </p:nvPr>
        </p:nvSpPr>
        <p:spPr>
          <a:xfrm>
            <a:off x="502143" y="914400"/>
            <a:ext cx="11187714" cy="4495800"/>
          </a:xfrm>
        </p:spPr>
        <p:txBody>
          <a:bodyPr/>
          <a:lstStyle/>
          <a:p>
            <a:pPr marL="285750" indent="-285750">
              <a:buFont typeface="Arial" panose="020B0604020202020204" pitchFamily="34" charset="0"/>
              <a:buChar char="•"/>
            </a:pPr>
            <a:r>
              <a:rPr lang="en-US" dirty="0"/>
              <a:t>Of the </a:t>
            </a:r>
            <a:r>
              <a:rPr lang="en-US" dirty="0" err="1"/>
              <a:t>8927</a:t>
            </a:r>
            <a:r>
              <a:rPr lang="en-US" dirty="0"/>
              <a:t> MW that have received Approval to Energize, ERCOT has observed a non-simultaneous monthly peak consumption of 3900 MW in </a:t>
            </a:r>
            <a:r>
              <a:rPr lang="en-US" dirty="0" err="1"/>
              <a:t>June</a:t>
            </a:r>
            <a:r>
              <a:rPr lang="en-US" dirty="0"/>
              <a:t> </a:t>
            </a:r>
            <a:r>
              <a:rPr lang="en-US" dirty="0" err="1"/>
              <a:t>2026</a:t>
            </a:r>
            <a:r>
              <a:rPr lang="en-US" dirty="0"/>
              <a:t> which is a slight </a:t>
            </a:r>
            <a:r>
              <a:rPr lang="en-US" dirty="0" err="1"/>
              <a:t>decrease</a:t>
            </a:r>
            <a:r>
              <a:rPr lang="en-US" dirty="0"/>
              <a:t> since </a:t>
            </a:r>
            <a:r>
              <a:rPr lang="en-US" dirty="0" err="1"/>
              <a:t>May</a:t>
            </a:r>
            <a:r>
              <a:rPr lang="en-US" dirty="0"/>
              <a:t> </a:t>
            </a:r>
            <a:r>
              <a:rPr lang="en-US" dirty="0" err="1"/>
              <a:t>2026</a:t>
            </a:r>
            <a:r>
              <a:rPr lang="en-US" dirty="0"/>
              <a:t>.</a:t>
            </a:r>
          </a:p>
          <a:p>
            <a:pPr marL="834390" lvl="1" indent="-285750"/>
            <a:r>
              <a:rPr lang="en-US" dirty="0"/>
              <a:t>This is calculated as the sum of the maximum value for each individual load per month</a:t>
            </a:r>
          </a:p>
          <a:p>
            <a:pPr marL="834390" lvl="1" indent="-285750"/>
            <a:r>
              <a:rPr lang="en-US" dirty="0"/>
              <a:t>This value represents how much approved load ERCOT believes is now operational</a:t>
            </a:r>
          </a:p>
          <a:p>
            <a:endParaRPr lang="en-US" dirty="0"/>
          </a:p>
        </p:txBody>
      </p:sp>
      <p:sp>
        <p:nvSpPr>
          <p:cNvPr id="4" name="Slide Number Placeholder 3">
            <a:extLst>
              <a:ext uri="{FF2B5EF4-FFF2-40B4-BE49-F238E27FC236}">
                <a16:creationId xmlns:a16="http://schemas.microsoft.com/office/drawing/2014/main" id="{A2E2F74D-E21A-F02E-8516-7CAE410F1D91}"/>
              </a:ext>
            </a:extLst>
          </p:cNvPr>
          <p:cNvSpPr>
            <a:spLocks noGrp="1"/>
          </p:cNvSpPr>
          <p:nvPr>
            <p:ph type="sldNum" sz="quarter" idx="12"/>
          </p:nvPr>
        </p:nvSpPr>
        <p:spPr/>
        <p:txBody>
          <a:bodyPr/>
          <a:lstStyle/>
          <a:p>
            <a:fld id="{BCDE79FB-97BA-492B-8D57-F1373F9ADA95}" type="slidenum">
              <a:rPr lang="en-US" smtClean="0"/>
              <a:t>8</a:t>
            </a:fld>
            <a:endParaRPr lang="en-US" dirty="0"/>
          </a:p>
        </p:txBody>
      </p:sp>
      <p:pic>
        <p:nvPicPr>
          <p:cNvPr id="5" name="Picture 4" descr="observed_remaining_load_chart1.png"/>
          <p:cNvPicPr>
            <a:picLocks noChangeAspect="1"/>
          </p:cNvPicPr>
          <p:nvPr/>
        </p:nvPicPr>
        <p:blipFill>
          <a:blip r:embed="rId2"/>
          <a:stretch>
            <a:fillRect/>
          </a:stretch>
        </p:blipFill>
        <p:spPr>
          <a:xfrm>
            <a:off x="2468880" y="2011680"/>
            <a:ext cx="7210697" cy="4206240"/>
          </a:xfrm>
          <a:prstGeom prst="rect">
            <a:avLst/>
          </a:prstGeom>
        </p:spPr>
      </p:pic>
    </p:spTree>
    <p:extLst>
      <p:ext uri="{BB962C8B-B14F-4D97-AF65-F5344CB8AC3E}">
        <p14:creationId xmlns:p14="http://schemas.microsoft.com/office/powerpoint/2010/main" val="1233392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3F1E5-DACF-B85A-43CB-D848F6E46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D2901-356C-0E2A-AC3C-A41702F05521}"/>
              </a:ext>
            </a:extLst>
          </p:cNvPr>
          <p:cNvSpPr>
            <a:spLocks noGrp="1"/>
          </p:cNvSpPr>
          <p:nvPr>
            <p:ph type="title"/>
          </p:nvPr>
        </p:nvSpPr>
        <p:spPr/>
        <p:txBody>
          <a:bodyPr/>
          <a:lstStyle/>
          <a:p>
            <a:r>
              <a:rPr lang="en-US" dirty="0"/>
              <a:t>Loads Approved to Energize – Observations 2</a:t>
            </a:r>
          </a:p>
        </p:txBody>
      </p:sp>
      <p:sp>
        <p:nvSpPr>
          <p:cNvPr id="3" name="Text Placeholder 2">
            <a:extLst>
              <a:ext uri="{FF2B5EF4-FFF2-40B4-BE49-F238E27FC236}">
                <a16:creationId xmlns:a16="http://schemas.microsoft.com/office/drawing/2014/main" id="{CA91C10D-05D3-56E1-2266-09484BD5F700}"/>
              </a:ext>
            </a:extLst>
          </p:cNvPr>
          <p:cNvSpPr>
            <a:spLocks noGrp="1"/>
          </p:cNvSpPr>
          <p:nvPr>
            <p:ph type="body" sz="quarter" idx="16"/>
          </p:nvPr>
        </p:nvSpPr>
        <p:spPr>
          <a:xfrm>
            <a:off x="533400" y="914400"/>
            <a:ext cx="11187714" cy="4495800"/>
          </a:xfrm>
        </p:spPr>
        <p:txBody>
          <a:bodyPr/>
          <a:lstStyle/>
          <a:p>
            <a:pPr marL="285750" indent="-285750">
              <a:buFont typeface="Arial" panose="020B0604020202020204" pitchFamily="34" charset="0"/>
              <a:buChar char="•"/>
            </a:pPr>
            <a:r>
              <a:rPr lang="en-US" dirty="0"/>
              <a:t>ERCOT has observed a </a:t>
            </a:r>
            <a:r>
              <a:rPr lang="en-US" b="1" dirty="0"/>
              <a:t>simultaneous</a:t>
            </a:r>
            <a:r>
              <a:rPr lang="en-US" dirty="0"/>
              <a:t> monthly peak consumption of </a:t>
            </a:r>
            <a:r>
              <a:rPr lang="en-US" dirty="0" err="1"/>
              <a:t>3675</a:t>
            </a:r>
            <a:r>
              <a:rPr lang="en-US" dirty="0"/>
              <a:t> MW in </a:t>
            </a:r>
            <a:r>
              <a:rPr lang="en-US" dirty="0" err="1"/>
              <a:t>June</a:t>
            </a:r>
            <a:r>
              <a:rPr lang="en-US" dirty="0"/>
              <a:t> </a:t>
            </a:r>
            <a:r>
              <a:rPr lang="en-US" dirty="0" err="1"/>
              <a:t>2026</a:t>
            </a:r>
            <a:r>
              <a:rPr lang="en-US" dirty="0"/>
              <a:t> which is a slight </a:t>
            </a:r>
            <a:r>
              <a:rPr lang="en-US" dirty="0" err="1"/>
              <a:t>decrease</a:t>
            </a:r>
            <a:r>
              <a:rPr lang="en-US" dirty="0"/>
              <a:t> since </a:t>
            </a:r>
            <a:r>
              <a:rPr lang="en-US" dirty="0" err="1"/>
              <a:t>May</a:t>
            </a:r>
            <a:r>
              <a:rPr lang="en-US" dirty="0"/>
              <a:t> </a:t>
            </a:r>
            <a:r>
              <a:rPr lang="en-US" dirty="0" err="1"/>
              <a:t>2026</a:t>
            </a:r>
            <a:r>
              <a:rPr lang="en-US" dirty="0"/>
              <a:t>. </a:t>
            </a:r>
          </a:p>
          <a:p>
            <a:pPr lvl="1"/>
            <a:r>
              <a:rPr lang="en-US" dirty="0"/>
              <a:t>This is the maximum value of the sum of all the individual loads per month</a:t>
            </a:r>
          </a:p>
          <a:p>
            <a:pPr lvl="1"/>
            <a:r>
              <a:rPr lang="en-US" dirty="0"/>
              <a:t>This value is the maximum amount of large load that ERCOT has had to serve at a single point in time</a:t>
            </a:r>
          </a:p>
          <a:p>
            <a:endParaRPr lang="en-US" dirty="0"/>
          </a:p>
        </p:txBody>
      </p:sp>
      <p:sp>
        <p:nvSpPr>
          <p:cNvPr id="4" name="Slide Number Placeholder 3">
            <a:extLst>
              <a:ext uri="{FF2B5EF4-FFF2-40B4-BE49-F238E27FC236}">
                <a16:creationId xmlns:a16="http://schemas.microsoft.com/office/drawing/2014/main" id="{AD246C4F-9278-E209-7ABA-9BDE1B5D0891}"/>
              </a:ext>
            </a:extLst>
          </p:cNvPr>
          <p:cNvSpPr>
            <a:spLocks noGrp="1"/>
          </p:cNvSpPr>
          <p:nvPr>
            <p:ph type="sldNum" sz="quarter" idx="12"/>
          </p:nvPr>
        </p:nvSpPr>
        <p:spPr/>
        <p:txBody>
          <a:bodyPr/>
          <a:lstStyle/>
          <a:p>
            <a:fld id="{BCDE79FB-97BA-492B-8D57-F1373F9ADA95}" type="slidenum">
              <a:rPr lang="en-US" smtClean="0"/>
              <a:t>9</a:t>
            </a:fld>
            <a:endParaRPr lang="en-US" dirty="0"/>
          </a:p>
        </p:txBody>
      </p:sp>
      <p:pic>
        <p:nvPicPr>
          <p:cNvPr id="5" name="Picture 4" descr="observed_remaining_load_chart2.png"/>
          <p:cNvPicPr>
            <a:picLocks noChangeAspect="1"/>
          </p:cNvPicPr>
          <p:nvPr/>
        </p:nvPicPr>
        <p:blipFill>
          <a:blip r:embed="rId2"/>
          <a:stretch>
            <a:fillRect/>
          </a:stretch>
        </p:blipFill>
        <p:spPr>
          <a:xfrm>
            <a:off x="2468880" y="2011680"/>
            <a:ext cx="7210697" cy="4206240"/>
          </a:xfrm>
          <a:prstGeom prst="rect">
            <a:avLst/>
          </a:prstGeom>
        </p:spPr>
      </p:pic>
    </p:spTree>
    <p:extLst>
      <p:ext uri="{BB962C8B-B14F-4D97-AF65-F5344CB8AC3E}">
        <p14:creationId xmlns:p14="http://schemas.microsoft.com/office/powerpoint/2010/main" val="1896212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389BE-4EB3-FF9B-47FC-105171AFC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6C955-B431-8AA6-8519-6D0118356C2A}"/>
              </a:ext>
            </a:extLst>
          </p:cNvPr>
          <p:cNvSpPr>
            <a:spLocks noGrp="1"/>
          </p:cNvSpPr>
          <p:nvPr>
            <p:ph type="title"/>
          </p:nvPr>
        </p:nvSpPr>
        <p:spPr/>
        <p:txBody>
          <a:bodyPr/>
          <a:lstStyle/>
          <a:p>
            <a:r>
              <a:rPr lang="en-US" dirty="0"/>
              <a:t>Large Load Project Distribution - Size</a:t>
            </a:r>
          </a:p>
        </p:txBody>
      </p:sp>
      <p:sp>
        <p:nvSpPr>
          <p:cNvPr id="4" name="Slide Number Placeholder 3">
            <a:extLst>
              <a:ext uri="{FF2B5EF4-FFF2-40B4-BE49-F238E27FC236}">
                <a16:creationId xmlns:a16="http://schemas.microsoft.com/office/drawing/2014/main" id="{1493B7B7-CFE1-2F7B-BFA3-97CA18B3423A}"/>
              </a:ext>
            </a:extLst>
          </p:cNvPr>
          <p:cNvSpPr>
            <a:spLocks noGrp="1"/>
          </p:cNvSpPr>
          <p:nvPr>
            <p:ph type="sldNum" sz="quarter" idx="12"/>
          </p:nvPr>
        </p:nvSpPr>
        <p:spPr/>
        <p:txBody>
          <a:bodyPr/>
          <a:lstStyle/>
          <a:p>
            <a:fld id="{BCDE79FB-97BA-492B-8D57-F1373F9ADA95}" type="slidenum">
              <a:rPr lang="en-US" smtClean="0"/>
              <a:t>10</a:t>
            </a:fld>
            <a:endParaRPr lang="en-US" dirty="0"/>
          </a:p>
        </p:txBody>
      </p:sp>
      <p:pic>
        <p:nvPicPr>
          <p:cNvPr id="5" name="Picture 4" descr="large_load_distribution.png"/>
          <p:cNvPicPr>
            <a:picLocks noChangeAspect="1"/>
          </p:cNvPicPr>
          <p:nvPr/>
        </p:nvPicPr>
        <p:blipFill>
          <a:blip r:embed="rId2"/>
          <a:stretch>
            <a:fillRect/>
          </a:stretch>
        </p:blipFill>
        <p:spPr>
          <a:xfrm>
            <a:off x="457200" y="914400"/>
            <a:ext cx="10058400" cy="5486400"/>
          </a:xfrm>
          <a:prstGeom prst="rect">
            <a:avLst/>
          </a:prstGeom>
        </p:spPr>
      </p:pic>
    </p:spTree>
    <p:extLst>
      <p:ext uri="{BB962C8B-B14F-4D97-AF65-F5344CB8AC3E}">
        <p14:creationId xmlns:p14="http://schemas.microsoft.com/office/powerpoint/2010/main" val="1551697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0E15D-813A-F9F7-8C3D-228A2C712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4F670-A961-F2BF-53C4-DF8D1141DB58}"/>
              </a:ext>
            </a:extLst>
          </p:cNvPr>
          <p:cNvSpPr>
            <a:spLocks noGrp="1"/>
          </p:cNvSpPr>
          <p:nvPr>
            <p:ph type="title"/>
          </p:nvPr>
        </p:nvSpPr>
        <p:spPr/>
        <p:txBody>
          <a:bodyPr/>
          <a:lstStyle/>
          <a:p>
            <a:r>
              <a:rPr lang="en-US" dirty="0"/>
              <a:t>Large Load Project Distribution - TSP</a:t>
            </a:r>
          </a:p>
        </p:txBody>
      </p:sp>
      <p:sp>
        <p:nvSpPr>
          <p:cNvPr id="4" name="Slide Number Placeholder 3">
            <a:extLst>
              <a:ext uri="{FF2B5EF4-FFF2-40B4-BE49-F238E27FC236}">
                <a16:creationId xmlns:a16="http://schemas.microsoft.com/office/drawing/2014/main" id="{584DABF3-DA75-EDA9-2ED6-C0B37D2D0B4B}"/>
              </a:ext>
            </a:extLst>
          </p:cNvPr>
          <p:cNvSpPr>
            <a:spLocks noGrp="1"/>
          </p:cNvSpPr>
          <p:nvPr>
            <p:ph type="sldNum" sz="quarter" idx="12"/>
          </p:nvPr>
        </p:nvSpPr>
        <p:spPr/>
        <p:txBody>
          <a:bodyPr/>
          <a:lstStyle/>
          <a:p>
            <a:fld id="{BCDE79FB-97BA-492B-8D57-F1373F9ADA95}" type="slidenum">
              <a:rPr lang="en-US" smtClean="0"/>
              <a:t>11</a:t>
            </a:fld>
            <a:endParaRPr lang="en-US" dirty="0"/>
          </a:p>
        </p:txBody>
      </p:sp>
      <p:pic>
        <p:nvPicPr>
          <p:cNvPr id="5" name="Picture 4" descr="9_mw_per_tsp_w_status.png"/>
          <p:cNvPicPr>
            <a:picLocks noChangeAspect="1"/>
          </p:cNvPicPr>
          <p:nvPr/>
        </p:nvPicPr>
        <p:blipFill>
          <a:blip r:embed="rId2"/>
          <a:stretch>
            <a:fillRect/>
          </a:stretch>
        </p:blipFill>
        <p:spPr>
          <a:xfrm>
            <a:off x="457200" y="914400"/>
            <a:ext cx="10058400" cy="5486400"/>
          </a:xfrm>
          <a:prstGeom prst="rect">
            <a:avLst/>
          </a:prstGeom>
        </p:spPr>
      </p:pic>
    </p:spTree>
    <p:extLst>
      <p:ext uri="{BB962C8B-B14F-4D97-AF65-F5344CB8AC3E}">
        <p14:creationId xmlns:p14="http://schemas.microsoft.com/office/powerpoint/2010/main" val="80744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E0A18-72AF-A7F2-E513-A77F6A95C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D0CDA-04FA-370B-83D2-831D6D4EB31E}"/>
              </a:ext>
            </a:extLst>
          </p:cNvPr>
          <p:cNvSpPr>
            <a:spLocks noGrp="1"/>
          </p:cNvSpPr>
          <p:nvPr>
            <p:ph type="title"/>
          </p:nvPr>
        </p:nvSpPr>
        <p:spPr/>
        <p:txBody>
          <a:bodyPr/>
          <a:lstStyle/>
          <a:p>
            <a:r>
              <a:rPr lang="en-US" dirty="0"/>
              <a:t>Large Load Project Submittal Date</a:t>
            </a:r>
          </a:p>
        </p:txBody>
      </p:sp>
      <p:sp>
        <p:nvSpPr>
          <p:cNvPr id="4" name="Slide Number Placeholder 3">
            <a:extLst>
              <a:ext uri="{FF2B5EF4-FFF2-40B4-BE49-F238E27FC236}">
                <a16:creationId xmlns:a16="http://schemas.microsoft.com/office/drawing/2014/main" id="{6FF49A30-921F-3178-1F29-03BCAE928075}"/>
              </a:ext>
            </a:extLst>
          </p:cNvPr>
          <p:cNvSpPr>
            <a:spLocks noGrp="1"/>
          </p:cNvSpPr>
          <p:nvPr>
            <p:ph type="sldNum" sz="quarter" idx="12"/>
          </p:nvPr>
        </p:nvSpPr>
        <p:spPr/>
        <p:txBody>
          <a:bodyPr/>
          <a:lstStyle/>
          <a:p>
            <a:fld id="{BCDE79FB-97BA-492B-8D57-F1373F9ADA95}" type="slidenum">
              <a:rPr lang="en-US" smtClean="0"/>
              <a:t>12</a:t>
            </a:fld>
            <a:endParaRPr lang="en-US" dirty="0"/>
          </a:p>
        </p:txBody>
      </p:sp>
      <p:pic>
        <p:nvPicPr>
          <p:cNvPr id="5" name="Picture 4" descr="11_requested_date_mw_per_tsp.png"/>
          <p:cNvPicPr>
            <a:picLocks noChangeAspect="1"/>
          </p:cNvPicPr>
          <p:nvPr/>
        </p:nvPicPr>
        <p:blipFill>
          <a:blip r:embed="rId2"/>
          <a:stretch>
            <a:fillRect/>
          </a:stretch>
        </p:blipFill>
        <p:spPr>
          <a:xfrm>
            <a:off x="1371600" y="914400"/>
            <a:ext cx="10058400" cy="5029200"/>
          </a:xfrm>
          <a:prstGeom prst="rect">
            <a:avLst/>
          </a:prstGeom>
        </p:spPr>
      </p:pic>
    </p:spTree>
    <p:extLst>
      <p:ext uri="{BB962C8B-B14F-4D97-AF65-F5344CB8AC3E}">
        <p14:creationId xmlns:p14="http://schemas.microsoft.com/office/powerpoint/2010/main" val="1276483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761C6-B1CF-117C-F6DF-006FB67EF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1AF77-2C0D-CB2C-04CF-2882E77E6A2C}"/>
              </a:ext>
            </a:extLst>
          </p:cNvPr>
          <p:cNvSpPr>
            <a:spLocks noGrp="1"/>
          </p:cNvSpPr>
          <p:nvPr>
            <p:ph type="title"/>
          </p:nvPr>
        </p:nvSpPr>
        <p:spPr/>
        <p:txBody>
          <a:bodyPr/>
          <a:lstStyle/>
          <a:p>
            <a:r>
              <a:rPr lang="en-US" dirty="0"/>
              <a:t>Large Load Project In Service Date</a:t>
            </a:r>
          </a:p>
        </p:txBody>
      </p:sp>
      <p:sp>
        <p:nvSpPr>
          <p:cNvPr id="4" name="Slide Number Placeholder 3">
            <a:extLst>
              <a:ext uri="{FF2B5EF4-FFF2-40B4-BE49-F238E27FC236}">
                <a16:creationId xmlns:a16="http://schemas.microsoft.com/office/drawing/2014/main" id="{A3BA63AD-C149-8C22-0A51-21C7BFF0E069}"/>
              </a:ext>
            </a:extLst>
          </p:cNvPr>
          <p:cNvSpPr>
            <a:spLocks noGrp="1"/>
          </p:cNvSpPr>
          <p:nvPr>
            <p:ph type="sldNum" sz="quarter" idx="12"/>
          </p:nvPr>
        </p:nvSpPr>
        <p:spPr/>
        <p:txBody>
          <a:bodyPr/>
          <a:lstStyle/>
          <a:p>
            <a:fld id="{BCDE79FB-97BA-492B-8D57-F1373F9ADA95}" type="slidenum">
              <a:rPr lang="en-US" smtClean="0"/>
              <a:t>13</a:t>
            </a:fld>
            <a:endParaRPr lang="en-US" dirty="0"/>
          </a:p>
        </p:txBody>
      </p:sp>
      <p:pic>
        <p:nvPicPr>
          <p:cNvPr id="5" name="Picture 4" descr="10_in_service_mw_per_tsp.png"/>
          <p:cNvPicPr>
            <a:picLocks noChangeAspect="1"/>
          </p:cNvPicPr>
          <p:nvPr/>
        </p:nvPicPr>
        <p:blipFill>
          <a:blip r:embed="rId2"/>
          <a:stretch>
            <a:fillRect/>
          </a:stretch>
        </p:blipFill>
        <p:spPr>
          <a:xfrm>
            <a:off x="1371600" y="914400"/>
            <a:ext cx="8621486" cy="5029200"/>
          </a:xfrm>
          <a:prstGeom prst="rect">
            <a:avLst/>
          </a:prstGeom>
        </p:spPr>
      </p:pic>
    </p:spTree>
    <p:extLst>
      <p:ext uri="{BB962C8B-B14F-4D97-AF65-F5344CB8AC3E}">
        <p14:creationId xmlns:p14="http://schemas.microsoft.com/office/powerpoint/2010/main" val="1190890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7C96D-713E-BF11-34ED-CFCFFE5BC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D972C-714C-4331-D2BA-0F000F280749}"/>
              </a:ext>
            </a:extLst>
          </p:cNvPr>
          <p:cNvSpPr>
            <a:spLocks noGrp="1"/>
          </p:cNvSpPr>
          <p:nvPr>
            <p:ph type="title"/>
          </p:nvPr>
        </p:nvSpPr>
        <p:spPr/>
        <p:txBody>
          <a:bodyPr/>
          <a:lstStyle/>
          <a:p>
            <a:r>
              <a:rPr lang="en-US" dirty="0"/>
              <a:t>Large Load Project Distribution by Type</a:t>
            </a:r>
          </a:p>
        </p:txBody>
      </p:sp>
      <p:sp>
        <p:nvSpPr>
          <p:cNvPr id="4" name="Slide Number Placeholder 3">
            <a:extLst>
              <a:ext uri="{FF2B5EF4-FFF2-40B4-BE49-F238E27FC236}">
                <a16:creationId xmlns:a16="http://schemas.microsoft.com/office/drawing/2014/main" id="{DF6A156B-83CA-0797-D82C-5EE4FBA04F35}"/>
              </a:ext>
            </a:extLst>
          </p:cNvPr>
          <p:cNvSpPr>
            <a:spLocks noGrp="1"/>
          </p:cNvSpPr>
          <p:nvPr>
            <p:ph type="sldNum" sz="quarter" idx="12"/>
          </p:nvPr>
        </p:nvSpPr>
        <p:spPr/>
        <p:txBody>
          <a:bodyPr/>
          <a:lstStyle/>
          <a:p>
            <a:fld id="{BCDE79FB-97BA-492B-8D57-F1373F9ADA95}" type="slidenum">
              <a:rPr lang="en-US" smtClean="0"/>
              <a:t>14</a:t>
            </a:fld>
            <a:endParaRPr lang="en-US" dirty="0"/>
          </a:p>
        </p:txBody>
      </p:sp>
      <p:pic>
        <p:nvPicPr>
          <p:cNvPr id="5" name="Picture 4" descr="12_load_type_pie_chart.png"/>
          <p:cNvPicPr>
            <a:picLocks noChangeAspect="1"/>
          </p:cNvPicPr>
          <p:nvPr/>
        </p:nvPicPr>
        <p:blipFill>
          <a:blip r:embed="rId2"/>
          <a:stretch>
            <a:fillRect/>
          </a:stretch>
        </p:blipFill>
        <p:spPr>
          <a:xfrm>
            <a:off x="1371600" y="914400"/>
            <a:ext cx="8621486" cy="5029200"/>
          </a:xfrm>
          <a:prstGeom prst="rect">
            <a:avLst/>
          </a:prstGeom>
        </p:spPr>
      </p:pic>
    </p:spTree>
    <p:extLst>
      <p:ext uri="{BB962C8B-B14F-4D97-AF65-F5344CB8AC3E}">
        <p14:creationId xmlns:p14="http://schemas.microsoft.com/office/powerpoint/2010/main" val="3333689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770B3-AF31-0921-59FA-F1B15B078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BF913-7830-4F7C-6156-3F01A5510770}"/>
              </a:ext>
            </a:extLst>
          </p:cNvPr>
          <p:cNvSpPr>
            <a:spLocks noGrp="1"/>
          </p:cNvSpPr>
          <p:nvPr>
            <p:ph type="title"/>
          </p:nvPr>
        </p:nvSpPr>
        <p:spPr/>
        <p:txBody>
          <a:bodyPr/>
          <a:lstStyle/>
          <a:p>
            <a:r>
              <a:rPr lang="en-US" dirty="0"/>
              <a:t>Large Load Project Distribution by Load Zone</a:t>
            </a:r>
          </a:p>
        </p:txBody>
      </p:sp>
      <p:sp>
        <p:nvSpPr>
          <p:cNvPr id="4" name="Slide Number Placeholder 3">
            <a:extLst>
              <a:ext uri="{FF2B5EF4-FFF2-40B4-BE49-F238E27FC236}">
                <a16:creationId xmlns:a16="http://schemas.microsoft.com/office/drawing/2014/main" id="{DDAA6DBF-427F-DCD3-D162-2C08FBBC48C7}"/>
              </a:ext>
            </a:extLst>
          </p:cNvPr>
          <p:cNvSpPr>
            <a:spLocks noGrp="1"/>
          </p:cNvSpPr>
          <p:nvPr>
            <p:ph type="sldNum" sz="quarter" idx="12"/>
          </p:nvPr>
        </p:nvSpPr>
        <p:spPr/>
        <p:txBody>
          <a:bodyPr/>
          <a:lstStyle/>
          <a:p>
            <a:fld id="{BCDE79FB-97BA-492B-8D57-F1373F9ADA95}" type="slidenum">
              <a:rPr lang="en-US" smtClean="0"/>
              <a:t>15</a:t>
            </a:fld>
            <a:endParaRPr lang="en-US" dirty="0"/>
          </a:p>
        </p:txBody>
      </p:sp>
      <p:pic>
        <p:nvPicPr>
          <p:cNvPr id="5" name="Picture 4" descr="13_load_zone_mw.png"/>
          <p:cNvPicPr>
            <a:picLocks noChangeAspect="1"/>
          </p:cNvPicPr>
          <p:nvPr/>
        </p:nvPicPr>
        <p:blipFill>
          <a:blip r:embed="rId2"/>
          <a:stretch>
            <a:fillRect/>
          </a:stretch>
        </p:blipFill>
        <p:spPr>
          <a:xfrm>
            <a:off x="2743200" y="914400"/>
            <a:ext cx="6705600" cy="5029200"/>
          </a:xfrm>
          <a:prstGeom prst="rect">
            <a:avLst/>
          </a:prstGeom>
        </p:spPr>
      </p:pic>
    </p:spTree>
    <p:extLst>
      <p:ext uri="{BB962C8B-B14F-4D97-AF65-F5344CB8AC3E}">
        <p14:creationId xmlns:p14="http://schemas.microsoft.com/office/powerpoint/2010/main" val="2694090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01407-D613-5282-F1E5-735C0E95D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8943F-AB51-D9C8-97C2-FC656FA0615C}"/>
              </a:ext>
            </a:extLst>
          </p:cNvPr>
          <p:cNvSpPr>
            <a:spLocks noGrp="1"/>
          </p:cNvSpPr>
          <p:nvPr>
            <p:ph type="title"/>
          </p:nvPr>
        </p:nvSpPr>
        <p:spPr/>
        <p:txBody>
          <a:bodyPr/>
          <a:lstStyle/>
          <a:p>
            <a:r>
              <a:rPr lang="en-US" dirty="0"/>
              <a:t>Large Load Project Distribution by Load Zone</a:t>
            </a:r>
          </a:p>
        </p:txBody>
      </p:sp>
      <p:sp>
        <p:nvSpPr>
          <p:cNvPr id="4" name="Slide Number Placeholder 3">
            <a:extLst>
              <a:ext uri="{FF2B5EF4-FFF2-40B4-BE49-F238E27FC236}">
                <a16:creationId xmlns:a16="http://schemas.microsoft.com/office/drawing/2014/main" id="{E1764543-A118-A57E-E623-76BCBCB57710}"/>
              </a:ext>
            </a:extLst>
          </p:cNvPr>
          <p:cNvSpPr>
            <a:spLocks noGrp="1"/>
          </p:cNvSpPr>
          <p:nvPr>
            <p:ph type="sldNum" sz="quarter" idx="12"/>
          </p:nvPr>
        </p:nvSpPr>
        <p:spPr/>
        <p:txBody>
          <a:bodyPr/>
          <a:lstStyle/>
          <a:p>
            <a:fld id="{BCDE79FB-97BA-492B-8D57-F1373F9ADA95}" type="slidenum">
              <a:rPr lang="en-US" smtClean="0"/>
              <a:t>16</a:t>
            </a:fld>
            <a:endParaRPr lang="en-US" dirty="0"/>
          </a:p>
        </p:txBody>
      </p:sp>
      <p:pic>
        <p:nvPicPr>
          <p:cNvPr id="5" name="Picture 4" descr="13_load_zone_num_projects.png"/>
          <p:cNvPicPr>
            <a:picLocks noChangeAspect="1"/>
          </p:cNvPicPr>
          <p:nvPr/>
        </p:nvPicPr>
        <p:blipFill>
          <a:blip r:embed="rId2"/>
          <a:stretch>
            <a:fillRect/>
          </a:stretch>
        </p:blipFill>
        <p:spPr>
          <a:xfrm>
            <a:off x="2743200" y="914400"/>
            <a:ext cx="6705600" cy="5029200"/>
          </a:xfrm>
          <a:prstGeom prst="rect">
            <a:avLst/>
          </a:prstGeom>
        </p:spPr>
      </p:pic>
    </p:spTree>
    <p:extLst>
      <p:ext uri="{BB962C8B-B14F-4D97-AF65-F5344CB8AC3E}">
        <p14:creationId xmlns:p14="http://schemas.microsoft.com/office/powerpoint/2010/main" val="788049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7EB4D05-CDBB-0EB4-1724-6B359ECEC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7300" y="728887"/>
            <a:ext cx="8210306" cy="6129113"/>
          </a:xfrm>
          <a:prstGeom prst="rect">
            <a:avLst/>
          </a:prstGeom>
        </p:spPr>
      </p:pic>
      <p:sp>
        <p:nvSpPr>
          <p:cNvPr id="2" name="Title 1">
            <a:extLst>
              <a:ext uri="{FF2B5EF4-FFF2-40B4-BE49-F238E27FC236}">
                <a16:creationId xmlns:a16="http://schemas.microsoft.com/office/drawing/2014/main" id="{0076C0C0-0BCB-DB26-662D-330CD3E12C91}"/>
              </a:ext>
            </a:extLst>
          </p:cNvPr>
          <p:cNvSpPr>
            <a:spLocks noGrp="1"/>
          </p:cNvSpPr>
          <p:nvPr>
            <p:ph type="title"/>
          </p:nvPr>
        </p:nvSpPr>
        <p:spPr/>
        <p:txBody>
          <a:bodyPr/>
          <a:lstStyle/>
          <a:p>
            <a:r>
              <a:rPr lang="en-US" dirty="0"/>
              <a:t>Batch Zero Tracking by Weather Zone (GWs)</a:t>
            </a:r>
          </a:p>
        </p:txBody>
      </p:sp>
      <p:sp>
        <p:nvSpPr>
          <p:cNvPr id="4" name="Slide Number Placeholder 3">
            <a:extLst>
              <a:ext uri="{FF2B5EF4-FFF2-40B4-BE49-F238E27FC236}">
                <a16:creationId xmlns:a16="http://schemas.microsoft.com/office/drawing/2014/main" id="{C31AA175-1712-7D6A-A857-023F303E9B5A}"/>
              </a:ext>
            </a:extLst>
          </p:cNvPr>
          <p:cNvSpPr>
            <a:spLocks noGrp="1"/>
          </p:cNvSpPr>
          <p:nvPr>
            <p:ph type="sldNum" sz="quarter" idx="12"/>
          </p:nvPr>
        </p:nvSpPr>
        <p:spPr/>
        <p:txBody>
          <a:bodyPr/>
          <a:lstStyle/>
          <a:p>
            <a:fld id="{BCDE79FB-97BA-492B-8D57-F1373F9ADA95}" type="slidenum">
              <a:rPr lang="en-US" smtClean="0"/>
              <a:t>17</a:t>
            </a:fld>
            <a:endParaRPr lang="en-US" dirty="0"/>
          </a:p>
        </p:txBody>
      </p:sp>
      <p:sp>
        <p:nvSpPr>
          <p:cNvPr id="5" name="Text Placeholder 2">
            <a:extLst>
              <a:ext uri="{FF2B5EF4-FFF2-40B4-BE49-F238E27FC236}">
                <a16:creationId xmlns:a16="http://schemas.microsoft.com/office/drawing/2014/main" id="{8E5A9B86-81EB-8410-0F67-D8EF94033365}"/>
              </a:ext>
            </a:extLst>
          </p:cNvPr>
          <p:cNvSpPr txBox="1">
            <a:spLocks/>
          </p:cNvSpPr>
          <p:nvPr/>
        </p:nvSpPr>
        <p:spPr>
          <a:xfrm>
            <a:off x="383800" y="6400800"/>
            <a:ext cx="11187714" cy="365126"/>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tx1"/>
                </a:solidFill>
                <a:latin typeface="+mn-lt"/>
                <a:ea typeface="+mn-ea"/>
                <a:cs typeface="+mn-cs"/>
              </a:defRPr>
            </a:lvl1pPr>
            <a:lvl2pPr marL="54864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2pPr>
            <a:lvl3pPr marL="73152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3pPr>
            <a:lvl4pPr marL="91440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4pPr>
            <a:lvl5pPr marL="1097280" indent="-182880" algn="l" defTabSz="914400" rtl="0" eaLnBrk="1" latinLnBrk="0" hangingPunct="1">
              <a:lnSpc>
                <a:spcPct val="100000"/>
              </a:lnSpc>
              <a:spcBef>
                <a:spcPts val="300"/>
              </a:spcBef>
              <a:spcAft>
                <a:spcPts val="300"/>
              </a:spcAft>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dirty="0"/>
              <a:t>Generated on 6-2-2026</a:t>
            </a:r>
          </a:p>
          <a:p>
            <a:pPr algn="r"/>
            <a:endParaRPr lang="en-US" dirty="0"/>
          </a:p>
        </p:txBody>
      </p:sp>
      <p:sp>
        <p:nvSpPr>
          <p:cNvPr id="7" name="Rectangle 6">
            <a:extLst>
              <a:ext uri="{FF2B5EF4-FFF2-40B4-BE49-F238E27FC236}">
                <a16:creationId xmlns:a16="http://schemas.microsoft.com/office/drawing/2014/main" id="{DC144552-0878-067B-4235-AE80FF230E2F}"/>
              </a:ext>
            </a:extLst>
          </p:cNvPr>
          <p:cNvSpPr/>
          <p:nvPr/>
        </p:nvSpPr>
        <p:spPr>
          <a:xfrm>
            <a:off x="3389211" y="5409931"/>
            <a:ext cx="427551" cy="1076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1C25C4C-5860-8934-1D34-074FC39534B1}"/>
              </a:ext>
            </a:extLst>
          </p:cNvPr>
          <p:cNvSpPr txBox="1"/>
          <p:nvPr/>
        </p:nvSpPr>
        <p:spPr>
          <a:xfrm>
            <a:off x="3311189" y="5360621"/>
            <a:ext cx="571110" cy="200055"/>
          </a:xfrm>
          <a:prstGeom prst="rect">
            <a:avLst/>
          </a:prstGeom>
          <a:noFill/>
        </p:spPr>
        <p:txBody>
          <a:bodyPr wrap="square" rtlCol="0">
            <a:spAutoFit/>
          </a:bodyPr>
          <a:lstStyle/>
          <a:p>
            <a:r>
              <a:rPr lang="en-US" sz="700" dirty="0"/>
              <a:t>Validated</a:t>
            </a:r>
          </a:p>
        </p:txBody>
      </p:sp>
      <p:sp>
        <p:nvSpPr>
          <p:cNvPr id="10" name="Rectangle 9">
            <a:extLst>
              <a:ext uri="{FF2B5EF4-FFF2-40B4-BE49-F238E27FC236}">
                <a16:creationId xmlns:a16="http://schemas.microsoft.com/office/drawing/2014/main" id="{F04584C9-DDF7-9CD1-962B-B2E20FC21C36}"/>
              </a:ext>
            </a:extLst>
          </p:cNvPr>
          <p:cNvSpPr/>
          <p:nvPr/>
        </p:nvSpPr>
        <p:spPr>
          <a:xfrm>
            <a:off x="6443790" y="1344605"/>
            <a:ext cx="373729" cy="900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66F1440-C12D-ABCD-AF6C-B1A1F7D07A91}"/>
              </a:ext>
            </a:extLst>
          </p:cNvPr>
          <p:cNvSpPr txBox="1"/>
          <p:nvPr/>
        </p:nvSpPr>
        <p:spPr>
          <a:xfrm>
            <a:off x="6353435" y="1296130"/>
            <a:ext cx="571110" cy="184666"/>
          </a:xfrm>
          <a:prstGeom prst="rect">
            <a:avLst/>
          </a:prstGeom>
          <a:noFill/>
        </p:spPr>
        <p:txBody>
          <a:bodyPr wrap="square" rtlCol="0">
            <a:spAutoFit/>
          </a:bodyPr>
          <a:lstStyle/>
          <a:p>
            <a:r>
              <a:rPr lang="en-US" sz="600" dirty="0"/>
              <a:t>Validated</a:t>
            </a:r>
          </a:p>
        </p:txBody>
      </p:sp>
      <p:sp>
        <p:nvSpPr>
          <p:cNvPr id="11" name="TextBox 10">
            <a:extLst>
              <a:ext uri="{FF2B5EF4-FFF2-40B4-BE49-F238E27FC236}">
                <a16:creationId xmlns:a16="http://schemas.microsoft.com/office/drawing/2014/main" id="{6A320C76-0D1A-D96A-410B-970E98A7049A}"/>
              </a:ext>
            </a:extLst>
          </p:cNvPr>
          <p:cNvSpPr txBox="1"/>
          <p:nvPr/>
        </p:nvSpPr>
        <p:spPr>
          <a:xfrm>
            <a:off x="129540" y="5811819"/>
            <a:ext cx="2270760" cy="954107"/>
          </a:xfrm>
          <a:prstGeom prst="rect">
            <a:avLst/>
          </a:prstGeom>
          <a:noFill/>
        </p:spPr>
        <p:txBody>
          <a:bodyPr wrap="square" rtlCol="0">
            <a:spAutoFit/>
          </a:bodyPr>
          <a:lstStyle/>
          <a:p>
            <a:r>
              <a:rPr lang="en-US" sz="1400" b="1" dirty="0"/>
              <a:t>Note: </a:t>
            </a:r>
            <a:r>
              <a:rPr lang="en-US" sz="1400" dirty="0"/>
              <a:t>loads with validated studies (bucket 2a) are also eligible for inclusion as base load</a:t>
            </a:r>
          </a:p>
        </p:txBody>
      </p:sp>
    </p:spTree>
    <p:extLst>
      <p:ext uri="{BB962C8B-B14F-4D97-AF65-F5344CB8AC3E}">
        <p14:creationId xmlns:p14="http://schemas.microsoft.com/office/powerpoint/2010/main" val="1041088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6AAE-68DF-EB17-E8A7-16A322F3D06C}"/>
              </a:ext>
            </a:extLst>
          </p:cNvPr>
          <p:cNvSpPr>
            <a:spLocks noGrp="1"/>
          </p:cNvSpPr>
          <p:nvPr>
            <p:ph type="title"/>
          </p:nvPr>
        </p:nvSpPr>
        <p:spPr/>
        <p:txBody>
          <a:bodyPr/>
          <a:lstStyle/>
          <a:p>
            <a:r>
              <a:rPr lang="en-US" dirty="0"/>
              <a:t>Questions/Comments?</a:t>
            </a:r>
          </a:p>
        </p:txBody>
      </p:sp>
      <p:sp>
        <p:nvSpPr>
          <p:cNvPr id="3" name="Text Placeholder 2">
            <a:extLst>
              <a:ext uri="{FF2B5EF4-FFF2-40B4-BE49-F238E27FC236}">
                <a16:creationId xmlns:a16="http://schemas.microsoft.com/office/drawing/2014/main" id="{7BF6A61A-D7C0-BEE7-3F65-3A3A70395BDB}"/>
              </a:ext>
            </a:extLst>
          </p:cNvPr>
          <p:cNvSpPr>
            <a:spLocks noGrp="1"/>
          </p:cNvSpPr>
          <p:nvPr>
            <p:ph type="body" sz="quarter" idx="13"/>
          </p:nvPr>
        </p:nvSpPr>
        <p:spPr>
          <a:xfrm>
            <a:off x="530868" y="3501136"/>
            <a:ext cx="5771609" cy="682625"/>
          </a:xfrm>
        </p:spPr>
        <p:txBody>
          <a:bodyPr/>
          <a:lstStyle/>
          <a:p>
            <a:r>
              <a:rPr lang="en-US" dirty="0"/>
              <a:t>LargeLoadInterconnection@ercot.com</a:t>
            </a:r>
          </a:p>
          <a:p>
            <a:endParaRPr lang="en-US" dirty="0"/>
          </a:p>
        </p:txBody>
      </p:sp>
      <p:sp>
        <p:nvSpPr>
          <p:cNvPr id="5" name="Slide Number Placeholder 4">
            <a:extLst>
              <a:ext uri="{FF2B5EF4-FFF2-40B4-BE49-F238E27FC236}">
                <a16:creationId xmlns:a16="http://schemas.microsoft.com/office/drawing/2014/main" id="{663E33CD-915C-8592-3526-C44B880B6BF9}"/>
              </a:ext>
            </a:extLst>
          </p:cNvPr>
          <p:cNvSpPr>
            <a:spLocks noGrp="1"/>
          </p:cNvSpPr>
          <p:nvPr>
            <p:ph type="sldNum" sz="quarter" idx="12"/>
          </p:nvPr>
        </p:nvSpPr>
        <p:spPr/>
        <p:txBody>
          <a:bodyPr wrap="square" anchor="ctr">
            <a:normAutofit/>
          </a:bodyPr>
          <a:lstStyle/>
          <a:p>
            <a:pPr>
              <a:spcAft>
                <a:spcPts val="600"/>
              </a:spcAft>
            </a:pPr>
            <a:fld id="{BCDE79FB-97BA-492B-8D57-F1373F9ADA95}" type="slidenum">
              <a:rPr lang="en-US" smtClean="0"/>
              <a:pPr>
                <a:spcAft>
                  <a:spcPts val="600"/>
                </a:spcAft>
              </a:pPr>
              <a:t>18</a:t>
            </a:fld>
            <a:endParaRPr lang="en-US" dirty="0"/>
          </a:p>
        </p:txBody>
      </p:sp>
    </p:spTree>
    <p:extLst>
      <p:ext uri="{BB962C8B-B14F-4D97-AF65-F5344CB8AC3E}">
        <p14:creationId xmlns:p14="http://schemas.microsoft.com/office/powerpoint/2010/main" val="3512297305"/>
      </p:ext>
    </p:extLst>
  </p:cSld>
  <p:clrMapOvr>
    <a:masterClrMapping/>
  </p:clrMapOvr>
</p:sld>
</file>